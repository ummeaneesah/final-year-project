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258" r:id="rId5"/>
  </p:sldIdLst>
  <p:sldSz cx="30275213" cy="21383625"/>
  <p:notesSz cx="6858000" cy="9144000"/>
  <p:defaultTextStyle>
    <a:defPPr>
      <a:defRPr lang="en-US"/>
    </a:defPPr>
    <a:lvl1pPr marL="0" algn="l" defTabSz="1239789" rtl="0" eaLnBrk="1" latinLnBrk="0" hangingPunct="1">
      <a:defRPr sz="4881" kern="1200">
        <a:solidFill>
          <a:schemeClr val="tx1"/>
        </a:solidFill>
        <a:latin typeface="+mn-lt"/>
        <a:ea typeface="+mn-ea"/>
        <a:cs typeface="+mn-cs"/>
      </a:defRPr>
    </a:lvl1pPr>
    <a:lvl2pPr marL="1239789" algn="l" defTabSz="1239789" rtl="0" eaLnBrk="1" latinLnBrk="0" hangingPunct="1">
      <a:defRPr sz="4881" kern="1200">
        <a:solidFill>
          <a:schemeClr val="tx1"/>
        </a:solidFill>
        <a:latin typeface="+mn-lt"/>
        <a:ea typeface="+mn-ea"/>
        <a:cs typeface="+mn-cs"/>
      </a:defRPr>
    </a:lvl2pPr>
    <a:lvl3pPr marL="2479578" algn="l" defTabSz="1239789" rtl="0" eaLnBrk="1" latinLnBrk="0" hangingPunct="1">
      <a:defRPr sz="4881" kern="1200">
        <a:solidFill>
          <a:schemeClr val="tx1"/>
        </a:solidFill>
        <a:latin typeface="+mn-lt"/>
        <a:ea typeface="+mn-ea"/>
        <a:cs typeface="+mn-cs"/>
      </a:defRPr>
    </a:lvl3pPr>
    <a:lvl4pPr marL="3719368" algn="l" defTabSz="1239789" rtl="0" eaLnBrk="1" latinLnBrk="0" hangingPunct="1">
      <a:defRPr sz="4881" kern="1200">
        <a:solidFill>
          <a:schemeClr val="tx1"/>
        </a:solidFill>
        <a:latin typeface="+mn-lt"/>
        <a:ea typeface="+mn-ea"/>
        <a:cs typeface="+mn-cs"/>
      </a:defRPr>
    </a:lvl4pPr>
    <a:lvl5pPr marL="4959157" algn="l" defTabSz="1239789" rtl="0" eaLnBrk="1" latinLnBrk="0" hangingPunct="1">
      <a:defRPr sz="4881" kern="1200">
        <a:solidFill>
          <a:schemeClr val="tx1"/>
        </a:solidFill>
        <a:latin typeface="+mn-lt"/>
        <a:ea typeface="+mn-ea"/>
        <a:cs typeface="+mn-cs"/>
      </a:defRPr>
    </a:lvl5pPr>
    <a:lvl6pPr marL="6198946" algn="l" defTabSz="1239789" rtl="0" eaLnBrk="1" latinLnBrk="0" hangingPunct="1">
      <a:defRPr sz="4881" kern="1200">
        <a:solidFill>
          <a:schemeClr val="tx1"/>
        </a:solidFill>
        <a:latin typeface="+mn-lt"/>
        <a:ea typeface="+mn-ea"/>
        <a:cs typeface="+mn-cs"/>
      </a:defRPr>
    </a:lvl6pPr>
    <a:lvl7pPr marL="7438735" algn="l" defTabSz="1239789" rtl="0" eaLnBrk="1" latinLnBrk="0" hangingPunct="1">
      <a:defRPr sz="4881" kern="1200">
        <a:solidFill>
          <a:schemeClr val="tx1"/>
        </a:solidFill>
        <a:latin typeface="+mn-lt"/>
        <a:ea typeface="+mn-ea"/>
        <a:cs typeface="+mn-cs"/>
      </a:defRPr>
    </a:lvl7pPr>
    <a:lvl8pPr marL="8678525" algn="l" defTabSz="1239789" rtl="0" eaLnBrk="1" latinLnBrk="0" hangingPunct="1">
      <a:defRPr sz="4881" kern="1200">
        <a:solidFill>
          <a:schemeClr val="tx1"/>
        </a:solidFill>
        <a:latin typeface="+mn-lt"/>
        <a:ea typeface="+mn-ea"/>
        <a:cs typeface="+mn-cs"/>
      </a:defRPr>
    </a:lvl8pPr>
    <a:lvl9pPr marL="9918314" algn="l" defTabSz="1239789"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C882"/>
    <a:srgbClr val="F7D3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8EE9F0-3606-498D-BD54-54DE603FFA0B}" v="28" dt="2025-11-20T10:46:56.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81520" autoAdjust="0"/>
  </p:normalViewPr>
  <p:slideViewPr>
    <p:cSldViewPr snapToGrid="0">
      <p:cViewPr varScale="1">
        <p:scale>
          <a:sx n="29" d="100"/>
          <a:sy n="29" d="100"/>
        </p:scale>
        <p:origin x="186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2BD97C-559A-4674-B78D-939007A4090D}" type="datetimeFigureOut">
              <a:rPr lang="en-GB" smtClean="0"/>
              <a:t>28/01/2026</a:t>
            </a:fld>
            <a:endParaRPr lang="en-GB"/>
          </a:p>
        </p:txBody>
      </p:sp>
      <p:sp>
        <p:nvSpPr>
          <p:cNvPr id="4" name="Slide Image Placeholder 3"/>
          <p:cNvSpPr>
            <a:spLocks noGrp="1" noRot="1" noChangeAspect="1"/>
          </p:cNvSpPr>
          <p:nvPr>
            <p:ph type="sldImg" idx="2"/>
          </p:nvPr>
        </p:nvSpPr>
        <p:spPr>
          <a:xfrm>
            <a:off x="1244600" y="1143000"/>
            <a:ext cx="4368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E4D63-35B2-4F9B-931B-FDF6E57B870A}" type="slidenum">
              <a:rPr lang="en-GB" smtClean="0"/>
              <a:t>‹#›</a:t>
            </a:fld>
            <a:endParaRPr lang="en-GB"/>
          </a:p>
        </p:txBody>
      </p:sp>
    </p:spTree>
    <p:extLst>
      <p:ext uri="{BB962C8B-B14F-4D97-AF65-F5344CB8AC3E}">
        <p14:creationId xmlns:p14="http://schemas.microsoft.com/office/powerpoint/2010/main" val="1813726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 0:00 – 1:30 — Opening &amp; Introduction</a:t>
            </a:r>
          </a:p>
          <a:p>
            <a:r>
              <a:rPr lang="en-GB" dirty="0"/>
              <a:t>“Hello Salma and Sheema, my name is Umme, and today I’m presenting my final-year project poster, which is a personalised </a:t>
            </a:r>
            <a:r>
              <a:rPr lang="en-GB" b="1" dirty="0"/>
              <a:t>Supplement Scheduler.</a:t>
            </a:r>
            <a:endParaRPr lang="en-GB" dirty="0"/>
          </a:p>
          <a:p>
            <a:r>
              <a:rPr lang="en-GB" dirty="0"/>
              <a:t>Many people regularly take vitamins or supplements, but they often don’t know </a:t>
            </a:r>
            <a:r>
              <a:rPr lang="en-GB" i="1" dirty="0"/>
              <a:t>when</a:t>
            </a:r>
            <a:r>
              <a:rPr lang="en-GB" dirty="0"/>
              <a:t> to take them for best absorption, how to avoid conflicts, or how to structure their intake across the day.</a:t>
            </a:r>
          </a:p>
          <a:p>
            <a:r>
              <a:rPr lang="en-GB" dirty="0"/>
              <a:t>My project addresses this gap by creating a website that generates a personalised schedule based on the supplements a user already takes. It helps organise timing, frequency, and routine in a user-friendly and straightforward way.”</a:t>
            </a:r>
          </a:p>
          <a:p>
            <a:endParaRPr lang="en-GB" dirty="0"/>
          </a:p>
          <a:p>
            <a:r>
              <a:rPr lang="en-GB" b="1" dirty="0"/>
              <a:t>⏱️ 1:30 – 3:30 — Background &amp; Problem Context</a:t>
            </a:r>
          </a:p>
          <a:p>
            <a:r>
              <a:rPr lang="en-GB" dirty="0"/>
              <a:t>“There has been growing interest in using technology to assist with nutrition. For example, </a:t>
            </a:r>
            <a:r>
              <a:rPr lang="en-GB" dirty="0" err="1"/>
              <a:t>Mallesi</a:t>
            </a:r>
            <a:r>
              <a:rPr lang="en-GB" dirty="0"/>
              <a:t> (2020), Sabitha (2024), and Lakshmi (2022) used machine learning to detect vitamin deficiencies and recommend foods. Kirk (2022) predicted vitamin C levels using AI, and Bleizgys (2021) developed an algorithm for vitamin D dosage timing.</a:t>
            </a:r>
          </a:p>
          <a:p>
            <a:r>
              <a:rPr lang="en-GB" dirty="0"/>
              <a:t>These studies show the importance of nutrients and the potential of technology, but they mainly focus on deficiency prediction — requiring medical data.</a:t>
            </a:r>
          </a:p>
          <a:p>
            <a:r>
              <a:rPr lang="en-GB" b="1" dirty="0"/>
              <a:t>None of them focus on simple day-to-day supplement scheduling</a:t>
            </a:r>
            <a:r>
              <a:rPr lang="en-GB" dirty="0"/>
              <a:t>, which is something ordinary users struggle with.</a:t>
            </a:r>
          </a:p>
          <a:p>
            <a:r>
              <a:rPr lang="en-GB" dirty="0"/>
              <a:t>That’s the gap my project fills: an accessible tool that organises supplements into a clear daily routine.”</a:t>
            </a:r>
          </a:p>
          <a:p>
            <a:endParaRPr lang="en-GB" dirty="0"/>
          </a:p>
          <a:p>
            <a:r>
              <a:rPr lang="en-GB" b="1" dirty="0"/>
              <a:t>⏱️ 3:30 – 5:00 — Aim &amp; SMART Objectives</a:t>
            </a:r>
          </a:p>
          <a:p>
            <a:r>
              <a:rPr lang="en-GB" dirty="0"/>
              <a:t>“The aim of this project is: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bg1"/>
                </a:solidFill>
                <a:latin typeface="Times New Roman" panose="02020603050405020304" pitchFamily="18" charset="0"/>
                <a:cs typeface="Times New Roman" panose="02020603050405020304" pitchFamily="18" charset="0"/>
              </a:rPr>
              <a:t>To build a user-friendly web application using data-driven insights to generate personalised schedules to help users effectively implement and manage their daily nutrient intake. </a:t>
            </a:r>
            <a:endParaRPr lang="en-GB" dirty="0"/>
          </a:p>
          <a:p>
            <a:r>
              <a:rPr lang="en-GB" dirty="0"/>
              <a:t>My objectives are:</a:t>
            </a:r>
          </a:p>
          <a:p>
            <a:r>
              <a:rPr lang="en-GB" sz="1200" dirty="0">
                <a:solidFill>
                  <a:schemeClr val="bg1"/>
                </a:solidFill>
                <a:latin typeface="Times New Roman" panose="02020603050405020304" pitchFamily="18" charset="0"/>
                <a:cs typeface="Times New Roman" panose="02020603050405020304" pitchFamily="18" charset="0"/>
              </a:rPr>
              <a:t>Review articles with information about supplement dosages </a:t>
            </a:r>
          </a:p>
          <a:p>
            <a:r>
              <a:rPr lang="en-GB" sz="1200" dirty="0">
                <a:solidFill>
                  <a:schemeClr val="bg1"/>
                </a:solidFill>
                <a:latin typeface="Times New Roman" panose="02020603050405020304" pitchFamily="18" charset="0"/>
                <a:cs typeface="Times New Roman" panose="02020603050405020304" pitchFamily="18" charset="0"/>
              </a:rPr>
              <a:t>Use Python to preprocess the supplement dataset</a:t>
            </a:r>
          </a:p>
          <a:p>
            <a:r>
              <a:rPr lang="en-GB" sz="1200" dirty="0">
                <a:solidFill>
                  <a:schemeClr val="bg1"/>
                </a:solidFill>
                <a:latin typeface="Times New Roman" panose="02020603050405020304" pitchFamily="18" charset="0"/>
                <a:cs typeface="Times New Roman" panose="02020603050405020304" pitchFamily="18" charset="0"/>
              </a:rPr>
              <a:t>Develop a web-based prototype with a personalised supplement schedule.”</a:t>
            </a:r>
          </a:p>
          <a:p>
            <a:endParaRPr lang="en-GB" dirty="0"/>
          </a:p>
          <a:p>
            <a:r>
              <a:rPr lang="en-GB" b="1" dirty="0"/>
              <a:t>⏱️ 5:00 – 8:00 — Dataset &amp; Data Preparation</a:t>
            </a:r>
          </a:p>
          <a:p>
            <a:r>
              <a:rPr lang="en-GB" dirty="0"/>
              <a:t>“For this project, I curated a supplement dataset, which included:</a:t>
            </a:r>
            <a:br>
              <a:rPr lang="en-GB" dirty="0"/>
            </a:br>
            <a:r>
              <a:rPr lang="en-GB" dirty="0"/>
              <a:t>• Supplement names</a:t>
            </a:r>
            <a:br>
              <a:rPr lang="en-GB" dirty="0"/>
            </a:br>
            <a:r>
              <a:rPr lang="en-GB" dirty="0"/>
              <a:t>• Recommended dosages</a:t>
            </a:r>
            <a:br>
              <a:rPr lang="en-GB" dirty="0"/>
            </a:br>
            <a:r>
              <a:rPr lang="en-GB" dirty="0"/>
              <a:t>• Frequency</a:t>
            </a:r>
            <a:br>
              <a:rPr lang="en-GB" dirty="0"/>
            </a:br>
            <a:r>
              <a:rPr lang="en-GB" dirty="0"/>
              <a:t>• Best timing (morning, afternoon, evening)</a:t>
            </a:r>
            <a:br>
              <a:rPr lang="en-GB" dirty="0"/>
            </a:br>
            <a:r>
              <a:rPr lang="en-GB" dirty="0"/>
              <a:t>• Whether to take with food</a:t>
            </a:r>
            <a:br>
              <a:rPr lang="en-GB" dirty="0"/>
            </a:br>
            <a:r>
              <a:rPr lang="en-GB" dirty="0"/>
              <a:t>• and finally Interactions and conflicts</a:t>
            </a:r>
          </a:p>
          <a:p>
            <a:r>
              <a:rPr lang="en-GB" dirty="0"/>
              <a:t>I cleaned this dataset using Excel and Python. I merged sheets, removed duplicates, standardised columns, and converted everything into a consistent format.</a:t>
            </a:r>
          </a:p>
          <a:p>
            <a:r>
              <a:rPr lang="en-GB" dirty="0"/>
              <a:t>This prepared dataset will be the foundation for the rule-based model.”</a:t>
            </a:r>
          </a:p>
          <a:p>
            <a:endParaRPr lang="en-GB" dirty="0"/>
          </a:p>
          <a:p>
            <a:r>
              <a:rPr lang="en-GB" b="1" dirty="0"/>
              <a:t>⏱️ 8:00 – 11:30 — Rule-Based Model (Core Logic)</a:t>
            </a:r>
          </a:p>
          <a:p>
            <a:r>
              <a:rPr lang="en-GB" dirty="0"/>
              <a:t>“This project does not diagnose deficiencies or make medical claims. Instead, it will use a rule-based model to organise supplements people already take.</a:t>
            </a:r>
          </a:p>
          <a:p>
            <a:r>
              <a:rPr lang="en-GB" dirty="0"/>
              <a:t>Here’s how the rule-based model works:</a:t>
            </a:r>
          </a:p>
          <a:p>
            <a:r>
              <a:rPr lang="en-GB" dirty="0"/>
              <a:t>Each supplement will have  defined attributes, such as:</a:t>
            </a:r>
            <a:br>
              <a:rPr lang="en-GB" dirty="0"/>
            </a:br>
            <a:r>
              <a:rPr lang="en-GB" dirty="0"/>
              <a:t>• </a:t>
            </a:r>
            <a:r>
              <a:rPr lang="en-GB" dirty="0" err="1"/>
              <a:t>best_time</a:t>
            </a:r>
            <a:br>
              <a:rPr lang="en-GB" dirty="0"/>
            </a:br>
            <a:r>
              <a:rPr lang="en-GB" dirty="0"/>
              <a:t>• </a:t>
            </a:r>
            <a:r>
              <a:rPr lang="en-GB" dirty="0" err="1"/>
              <a:t>with_food</a:t>
            </a:r>
            <a:br>
              <a:rPr lang="en-GB" dirty="0"/>
            </a:br>
            <a:r>
              <a:rPr lang="en-GB" dirty="0"/>
              <a:t>• </a:t>
            </a:r>
            <a:r>
              <a:rPr lang="en-GB" dirty="0" err="1"/>
              <a:t>avoid_with</a:t>
            </a:r>
            <a:br>
              <a:rPr lang="en-GB" dirty="0"/>
            </a:br>
            <a:r>
              <a:rPr lang="en-GB" dirty="0"/>
              <a:t>• </a:t>
            </a:r>
            <a:r>
              <a:rPr lang="en-GB" dirty="0" err="1"/>
              <a:t>max_daily_doses</a:t>
            </a:r>
            <a:endParaRPr lang="en-GB" dirty="0"/>
          </a:p>
          <a:p>
            <a:r>
              <a:rPr lang="en-GB" dirty="0"/>
              <a:t>For example:</a:t>
            </a:r>
            <a:br>
              <a:rPr lang="en-GB" dirty="0"/>
            </a:br>
            <a:r>
              <a:rPr lang="en-GB" dirty="0"/>
              <a:t>• Iron — best in the evening, avoid calcium, on an empty stomach</a:t>
            </a:r>
            <a:br>
              <a:rPr lang="en-GB" dirty="0"/>
            </a:br>
            <a:r>
              <a:rPr lang="en-GB" dirty="0"/>
              <a:t>• Vitamin D — best in the morning, with food</a:t>
            </a:r>
            <a:br>
              <a:rPr lang="en-GB" dirty="0"/>
            </a:br>
            <a:r>
              <a:rPr lang="en-GB" dirty="0"/>
              <a:t>• and finally Magnesium — best before bedtime</a:t>
            </a:r>
          </a:p>
          <a:p>
            <a:r>
              <a:rPr lang="en-GB" dirty="0"/>
              <a:t>The model will match the user’s input supplements to the rules and generates a schedule divided into Morning, Afternoon, Evening.</a:t>
            </a:r>
          </a:p>
          <a:p>
            <a:r>
              <a:rPr lang="en-GB" dirty="0"/>
              <a:t>I chose a rule-based model instead of machine learning because it’s safer, transparent, medically neutral, and allows complete control over interactions.”</a:t>
            </a:r>
          </a:p>
          <a:p>
            <a:endParaRPr lang="en-GB" dirty="0"/>
          </a:p>
          <a:p>
            <a:r>
              <a:rPr lang="en-GB" b="1" dirty="0"/>
              <a:t>⏱️ 11:30 – 14:30 — System Design &amp; Tools Used</a:t>
            </a:r>
          </a:p>
          <a:p>
            <a:r>
              <a:rPr lang="en-GB" dirty="0"/>
              <a:t>“The system will be built using three primary tools:</a:t>
            </a:r>
          </a:p>
          <a:p>
            <a:r>
              <a:rPr lang="en-GB" b="1" dirty="0"/>
              <a:t>Python</a:t>
            </a:r>
            <a:r>
              <a:rPr lang="en-GB" dirty="0"/>
              <a:t> — for backend logic, rule checking, schedule generation, and data processing.</a:t>
            </a:r>
            <a:br>
              <a:rPr lang="en-GB" dirty="0"/>
            </a:br>
            <a:r>
              <a:rPr lang="en-GB" b="1" dirty="0"/>
              <a:t>Excel</a:t>
            </a:r>
            <a:r>
              <a:rPr lang="en-GB" dirty="0"/>
              <a:t> — for initial dataset cleaning and structuring.</a:t>
            </a:r>
            <a:br>
              <a:rPr lang="en-GB" dirty="0"/>
            </a:br>
            <a:r>
              <a:rPr lang="en-GB" b="1" dirty="0"/>
              <a:t>GitHub</a:t>
            </a:r>
            <a:r>
              <a:rPr lang="en-GB" dirty="0"/>
              <a:t> — for backups and project organisation.</a:t>
            </a:r>
          </a:p>
          <a:p>
            <a:r>
              <a:rPr lang="en-GB" dirty="0"/>
              <a:t>Not included in the poster, but for the website interface, I will use </a:t>
            </a:r>
            <a:r>
              <a:rPr lang="en-GB" dirty="0" err="1"/>
              <a:t>Streamlit</a:t>
            </a:r>
            <a:r>
              <a:rPr lang="en-GB" dirty="0"/>
              <a:t>. It will allow me to build a clean, interactive web app where users can input supplements and immediately see their generated schedule.</a:t>
            </a:r>
          </a:p>
          <a:p>
            <a:r>
              <a:rPr lang="en-GB" dirty="0"/>
              <a:t>The design focuses on simplicity and clarity.”</a:t>
            </a:r>
          </a:p>
          <a:p>
            <a:endParaRPr lang="en-GB" dirty="0"/>
          </a:p>
          <a:p>
            <a:r>
              <a:rPr lang="en-GB" b="1" dirty="0"/>
              <a:t>⏱️ 14:30 – 16:30 — Testing &amp; Evaluation</a:t>
            </a:r>
          </a:p>
          <a:p>
            <a:r>
              <a:rPr lang="en-GB" dirty="0"/>
              <a:t>“I will test the system using a range of supplements and combinations.</a:t>
            </a:r>
          </a:p>
          <a:p>
            <a:r>
              <a:rPr lang="en-GB" dirty="0"/>
              <a:t>Such as:</a:t>
            </a:r>
            <a:br>
              <a:rPr lang="en-GB" dirty="0"/>
            </a:br>
            <a:r>
              <a:rPr lang="en-GB" dirty="0"/>
              <a:t>• Whether timing rules were correctly applied</a:t>
            </a:r>
            <a:br>
              <a:rPr lang="en-GB" dirty="0"/>
            </a:br>
            <a:r>
              <a:rPr lang="en-GB" dirty="0"/>
              <a:t>• Whether conflicting supplements were separated</a:t>
            </a:r>
            <a:br>
              <a:rPr lang="en-GB" dirty="0"/>
            </a:br>
            <a:r>
              <a:rPr lang="en-GB" dirty="0"/>
              <a:t>• Whether the output schedule was readable and logical</a:t>
            </a:r>
            <a:br>
              <a:rPr lang="en-GB" dirty="0"/>
            </a:br>
            <a:r>
              <a:rPr lang="en-GB" dirty="0"/>
              <a:t>• AND FINALLY, whether the website interface was intuitive</a:t>
            </a:r>
          </a:p>
          <a:p>
            <a:endParaRPr lang="en-GB" dirty="0"/>
          </a:p>
          <a:p>
            <a:r>
              <a:rPr lang="en-GB" dirty="0"/>
              <a:t>TALK ABOUT GNATT CHART AND SKILLS AND THE HOW</a:t>
            </a:r>
          </a:p>
          <a:p>
            <a:endParaRPr lang="en-GB" dirty="0"/>
          </a:p>
          <a:p>
            <a:r>
              <a:rPr lang="en-GB" b="1" dirty="0"/>
              <a:t>⏱️ 19:30 – 20:00 — Closing Statement</a:t>
            </a:r>
          </a:p>
          <a:p>
            <a:r>
              <a:rPr lang="en-GB" dirty="0"/>
              <a:t>“To conclude, I will develop a supplement scheduling system that is safe, user-friendly, and solves a real gap in everyday supplement routines.</a:t>
            </a:r>
          </a:p>
          <a:p>
            <a:r>
              <a:rPr lang="en-GB" dirty="0"/>
              <a:t>Thank you, and I’m happy to take your questions.”</a:t>
            </a:r>
          </a:p>
          <a:p>
            <a:endParaRPr lang="en-GB" dirty="0"/>
          </a:p>
          <a:p>
            <a:r>
              <a:rPr lang="en-GB" b="1" dirty="0"/>
              <a:t>1. Why did you choose a rule-based model instead of machine learning?</a:t>
            </a:r>
          </a:p>
          <a:p>
            <a:r>
              <a:rPr lang="en-GB" b="1" dirty="0"/>
              <a:t>Answer:</a:t>
            </a:r>
            <a:br>
              <a:rPr lang="en-GB" dirty="0"/>
            </a:br>
            <a:r>
              <a:rPr lang="en-GB" dirty="0"/>
              <a:t>A rule-based model is safer, more transparent, and appropriate for supplement timing. It avoids giving medical diagnoses and follows clear evidence-based rules from nutritional research.</a:t>
            </a:r>
          </a:p>
          <a:p>
            <a:endParaRPr lang="en-GB" dirty="0"/>
          </a:p>
          <a:p>
            <a:r>
              <a:rPr lang="en-GB" b="1" dirty="0"/>
              <a:t>2. How did you ensure the information you used was legal to reuse?</a:t>
            </a:r>
          </a:p>
          <a:p>
            <a:r>
              <a:rPr lang="en-GB" b="1" dirty="0"/>
              <a:t>Answer:</a:t>
            </a:r>
            <a:br>
              <a:rPr lang="en-GB" dirty="0"/>
            </a:br>
            <a:r>
              <a:rPr lang="en-GB" dirty="0"/>
              <a:t>I used publicly available information and structured it into my own dataset. The system only schedules supplements the user already takes and does not make health claims.</a:t>
            </a:r>
          </a:p>
          <a:p>
            <a:endParaRPr lang="en-GB" dirty="0"/>
          </a:p>
          <a:p>
            <a:r>
              <a:rPr lang="en-GB" b="1" dirty="0"/>
              <a:t>3. How does your scheduler choose the best time for each supplement?</a:t>
            </a:r>
          </a:p>
          <a:p>
            <a:r>
              <a:rPr lang="en-GB" b="1" dirty="0"/>
              <a:t>Answer:</a:t>
            </a:r>
            <a:br>
              <a:rPr lang="en-GB" dirty="0"/>
            </a:br>
            <a:r>
              <a:rPr lang="en-GB" dirty="0"/>
              <a:t>Each supplement in the dataset has assigned attributes:</a:t>
            </a:r>
          </a:p>
          <a:p>
            <a:r>
              <a:rPr lang="en-GB" dirty="0"/>
              <a:t>Morning/Afternoon/Evening</a:t>
            </a:r>
          </a:p>
          <a:p>
            <a:r>
              <a:rPr lang="en-GB" dirty="0"/>
              <a:t>With or without food</a:t>
            </a:r>
          </a:p>
          <a:p>
            <a:r>
              <a:rPr lang="en-GB" dirty="0"/>
              <a:t>Max doses per day</a:t>
            </a:r>
            <a:br>
              <a:rPr lang="en-GB" dirty="0"/>
            </a:br>
            <a:r>
              <a:rPr lang="en-GB" dirty="0"/>
              <a:t>The scheduler applies these rules when creating the final timetable.</a:t>
            </a:r>
          </a:p>
          <a:p>
            <a:endParaRPr lang="en-GB" dirty="0"/>
          </a:p>
          <a:p>
            <a:r>
              <a:rPr lang="en-GB" b="1" dirty="0"/>
              <a:t>4. What challenges did you face while cleaning the dataset?</a:t>
            </a:r>
          </a:p>
          <a:p>
            <a:r>
              <a:rPr lang="en-GB" b="1" dirty="0"/>
              <a:t>Answer:</a:t>
            </a:r>
            <a:endParaRPr lang="en-GB" dirty="0"/>
          </a:p>
          <a:p>
            <a:r>
              <a:rPr lang="en-GB" dirty="0"/>
              <a:t>Inconsistent formatting</a:t>
            </a:r>
          </a:p>
          <a:p>
            <a:r>
              <a:rPr lang="en-GB" dirty="0"/>
              <a:t>Missing values for timing</a:t>
            </a:r>
          </a:p>
          <a:p>
            <a:r>
              <a:rPr lang="en-GB" dirty="0"/>
              <a:t>Duplicate supplements</a:t>
            </a:r>
          </a:p>
          <a:p>
            <a:r>
              <a:rPr lang="en-GB" dirty="0"/>
              <a:t>Converting text formats</a:t>
            </a:r>
            <a:br>
              <a:rPr lang="en-GB" dirty="0"/>
            </a:br>
            <a:r>
              <a:rPr lang="en-GB" dirty="0"/>
              <a:t>I solved this using Excel filters and Python preprocessing.</a:t>
            </a:r>
          </a:p>
          <a:p>
            <a:endParaRPr lang="en-GB" dirty="0"/>
          </a:p>
          <a:p>
            <a:r>
              <a:rPr lang="en-GB" b="1" dirty="0"/>
              <a:t>5. What would you improve with more time?</a:t>
            </a:r>
          </a:p>
          <a:p>
            <a:r>
              <a:rPr lang="en-GB" b="1" dirty="0"/>
              <a:t>Answer:</a:t>
            </a:r>
            <a:endParaRPr lang="en-GB" dirty="0"/>
          </a:p>
          <a:p>
            <a:r>
              <a:rPr lang="en-GB" dirty="0"/>
              <a:t>Add search recommendations</a:t>
            </a:r>
          </a:p>
          <a:p>
            <a:r>
              <a:rPr lang="en-GB" dirty="0"/>
              <a:t>Build a mobile app version</a:t>
            </a:r>
          </a:p>
          <a:p>
            <a:r>
              <a:rPr lang="en-GB" dirty="0"/>
              <a:t>Allow users to receive daily reminders</a:t>
            </a:r>
          </a:p>
          <a:p>
            <a:r>
              <a:rPr lang="en-GB" dirty="0"/>
              <a:t>Add a more advanced rule engine to handle complex interactions</a:t>
            </a:r>
          </a:p>
          <a:p>
            <a:endParaRPr lang="en-GB" dirty="0"/>
          </a:p>
          <a:p>
            <a:r>
              <a:rPr lang="en-GB" b="1" dirty="0"/>
              <a:t>6. Is your system medically safe?</a:t>
            </a:r>
          </a:p>
          <a:p>
            <a:r>
              <a:rPr lang="en-GB" b="1" dirty="0"/>
              <a:t>Answer:</a:t>
            </a:r>
            <a:br>
              <a:rPr lang="en-GB" dirty="0"/>
            </a:br>
            <a:r>
              <a:rPr lang="en-GB" dirty="0"/>
              <a:t>Yes — the website only organises supplements that the user already takes. It does not prescribe or suggest new supplements. All advice is general scheduling guidance, not medical advice.</a:t>
            </a:r>
          </a:p>
          <a:p>
            <a:endParaRPr lang="en-GB" dirty="0"/>
          </a:p>
          <a:p>
            <a:r>
              <a:rPr lang="en-GB" b="1" dirty="0"/>
              <a:t>7. Why is scheduling important for supplements?</a:t>
            </a:r>
          </a:p>
          <a:p>
            <a:r>
              <a:rPr lang="en-GB" b="1" dirty="0"/>
              <a:t>Answer:</a:t>
            </a:r>
            <a:br>
              <a:rPr lang="en-GB" dirty="0"/>
            </a:br>
            <a:r>
              <a:rPr lang="en-GB" dirty="0"/>
              <a:t>Because absorption varies — e.g.,</a:t>
            </a:r>
          </a:p>
          <a:p>
            <a:r>
              <a:rPr lang="en-GB" dirty="0"/>
              <a:t>Magnesium → bedtime</a:t>
            </a:r>
          </a:p>
          <a:p>
            <a:r>
              <a:rPr lang="en-GB" dirty="0"/>
              <a:t>Iron → away from calcium/caffeine</a:t>
            </a:r>
          </a:p>
          <a:p>
            <a:r>
              <a:rPr lang="en-GB" dirty="0"/>
              <a:t>Vitamin D → with food</a:t>
            </a:r>
            <a:br>
              <a:rPr lang="en-GB" dirty="0"/>
            </a:br>
            <a:r>
              <a:rPr lang="en-GB" dirty="0"/>
              <a:t>Scheduling improves effectiveness.</a:t>
            </a:r>
          </a:p>
          <a:p>
            <a:endParaRPr lang="en-GB" dirty="0"/>
          </a:p>
          <a:p>
            <a:r>
              <a:rPr lang="en-GB" b="1" dirty="0"/>
              <a:t>8. What tools were most useful for development?</a:t>
            </a:r>
          </a:p>
          <a:p>
            <a:r>
              <a:rPr lang="en-GB" b="1" dirty="0"/>
              <a:t>Answer:</a:t>
            </a:r>
            <a:br>
              <a:rPr lang="en-GB" dirty="0"/>
            </a:br>
            <a:r>
              <a:rPr lang="en-GB" dirty="0"/>
              <a:t>Python for logic, Excel for dataset cleaning, GitHub for documentation, and </a:t>
            </a:r>
            <a:r>
              <a:rPr lang="en-GB" dirty="0" err="1"/>
              <a:t>Streamlit</a:t>
            </a:r>
            <a:r>
              <a:rPr lang="en-GB" dirty="0"/>
              <a:t> for web deployment.</a:t>
            </a:r>
          </a:p>
          <a:p>
            <a:endParaRPr lang="en-GB" dirty="0"/>
          </a:p>
          <a:p>
            <a:r>
              <a:rPr lang="en-GB" b="1" dirty="0"/>
              <a:t>🎤 10-Minute Q&amp;A — YOU WILL BE ASKED THESE</a:t>
            </a:r>
          </a:p>
          <a:p>
            <a:r>
              <a:rPr lang="en-GB" dirty="0"/>
              <a:t>Here are the most likely questions:</a:t>
            </a:r>
          </a:p>
          <a:p>
            <a:r>
              <a:rPr lang="en-GB" b="1" dirty="0"/>
              <a:t>1. Why did you choose a rule-based model instead of machine learning?</a:t>
            </a:r>
          </a:p>
          <a:p>
            <a:r>
              <a:rPr lang="en-GB" dirty="0"/>
              <a:t>Because it’s safer, transparent, and ideal for scheduling without making medical decisions.</a:t>
            </a:r>
          </a:p>
          <a:p>
            <a:r>
              <a:rPr lang="en-GB" b="1" dirty="0"/>
              <a:t>2. Where did your dataset come from?</a:t>
            </a:r>
          </a:p>
          <a:p>
            <a:r>
              <a:rPr lang="en-GB" dirty="0"/>
              <a:t>A curated dataset containing supplement timing, dosages, interactions, and food requirements.</a:t>
            </a:r>
          </a:p>
          <a:p>
            <a:r>
              <a:rPr lang="en-GB" b="1" dirty="0"/>
              <a:t>3. How does the system avoid giving medical advice?</a:t>
            </a:r>
          </a:p>
          <a:p>
            <a:r>
              <a:rPr lang="en-GB" dirty="0"/>
              <a:t>The tool only organises supplements that the user already takes. It does not recommend or prescribe anything.</a:t>
            </a:r>
          </a:p>
          <a:p>
            <a:r>
              <a:rPr lang="en-GB" b="1" dirty="0"/>
              <a:t>4. What was the biggest challenge?</a:t>
            </a:r>
          </a:p>
          <a:p>
            <a:r>
              <a:rPr lang="en-GB" dirty="0"/>
              <a:t>Cleaning inconsistent dataset entries and defining accurate supplement timing rules.</a:t>
            </a:r>
          </a:p>
          <a:p>
            <a:r>
              <a:rPr lang="en-GB" b="1" dirty="0"/>
              <a:t>5. How would you improve it with more time?</a:t>
            </a:r>
          </a:p>
          <a:p>
            <a:r>
              <a:rPr lang="en-GB" dirty="0"/>
              <a:t>Adding reminders, mobile support, and downloadable calendars.</a:t>
            </a:r>
          </a:p>
          <a:p>
            <a:r>
              <a:rPr lang="en-GB" b="1" dirty="0"/>
              <a:t>6. Could this be used in real life?</a:t>
            </a:r>
          </a:p>
          <a:p>
            <a:r>
              <a:rPr lang="en-GB" dirty="0"/>
              <a:t>Yes — it’s practical, safe, and fills a real user need.</a:t>
            </a:r>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AA7E4D63-35B2-4F9B-931B-FDF6E57B870A}" type="slidenum">
              <a:rPr lang="en-GB" smtClean="0"/>
              <a:t>1</a:t>
            </a:fld>
            <a:endParaRPr lang="en-GB"/>
          </a:p>
        </p:txBody>
      </p:sp>
    </p:spTree>
    <p:extLst>
      <p:ext uri="{BB962C8B-B14F-4D97-AF65-F5344CB8AC3E}">
        <p14:creationId xmlns:p14="http://schemas.microsoft.com/office/powerpoint/2010/main" val="1268408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716143" y="3499590"/>
            <a:ext cx="18842931" cy="817290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716143" y="11984897"/>
            <a:ext cx="18842931" cy="4409214"/>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22167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6397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1498318" y="1726207"/>
            <a:ext cx="20543887" cy="12499845"/>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1498315" y="14310202"/>
            <a:ext cx="20543887" cy="4317313"/>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1/28/2026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37481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1329" y="1710690"/>
            <a:ext cx="26672463" cy="353044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1521329" y="5692400"/>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15326826" y="5692400"/>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30476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513761" y="1706811"/>
            <a:ext cx="26683975" cy="356484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513762" y="5256215"/>
            <a:ext cx="12807833" cy="174559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1513762" y="7442469"/>
            <a:ext cx="12807833" cy="11739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15326827" y="5256215"/>
            <a:ext cx="12870909" cy="174559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15326826" y="7442469"/>
            <a:ext cx="12870911" cy="11739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1/28/2026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87462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0526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71017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482869" y="1726207"/>
            <a:ext cx="8928690" cy="5479998"/>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12750524" y="1726205"/>
            <a:ext cx="15593873" cy="171069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482869" y="7206205"/>
            <a:ext cx="8928690" cy="11626902"/>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1/28/2026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26667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475917" y="1739203"/>
            <a:ext cx="8928690" cy="6898115"/>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12573251" y="2048884"/>
            <a:ext cx="16100312" cy="1732361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513763" y="8812052"/>
            <a:ext cx="8903739" cy="10709392"/>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1/28/2026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0213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1521330" y="1710690"/>
            <a:ext cx="26112371" cy="3530443"/>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1521330" y="5241135"/>
            <a:ext cx="26112371" cy="140189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1/28/2026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25234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23925386" y="1803786"/>
            <a:ext cx="5083209" cy="1745632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2081421" y="1803787"/>
            <a:ext cx="21843963" cy="174563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1/28/2026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7862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521329" y="1710690"/>
            <a:ext cx="26454999" cy="353044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521328" y="5349124"/>
            <a:ext cx="26455001" cy="143238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0596" y="20120820"/>
            <a:ext cx="8677092" cy="1138480"/>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22042206" y="20120820"/>
            <a:ext cx="6966391" cy="1138480"/>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28885023" y="20120820"/>
            <a:ext cx="1065808" cy="1138480"/>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166219808"/>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681" r:id="rId3"/>
    <p:sldLayoutId id="2147483680" r:id="rId4"/>
    <p:sldLayoutId id="2147483679" r:id="rId5"/>
    <p:sldLayoutId id="2147483678" r:id="rId6"/>
    <p:sldLayoutId id="2147483677" r:id="rId7"/>
    <p:sldLayoutId id="2147483676" r:id="rId8"/>
    <p:sldLayoutId id="2147483675" r:id="rId9"/>
    <p:sldLayoutId id="2147483674" r:id="rId10"/>
    <p:sldLayoutId id="214748367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hyperlink" Target="https://ieeexplore.ieee.org/abstract/document/10533044?casa_token=oAfRxhAegNkAAAAA:ftI5pHn8j-Zi7Zu8rmoE-3PHugiddrFgXrddskxv9fwCaR-oi5bX9toFj_9BmpmYB65DTwhbnQ" TargetMode="External"/><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6" Type="http://schemas.openxmlformats.org/officeDocument/2006/relationships/hyperlink" Target="https://materialsciencetech.com/mst/uploads/2020-41862.pdf" TargetMode="Externa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hyperlink" Target="https://doi.org/10.3390/nu13124415" TargetMode="External"/><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hyperlink" Target="https://doi.org/10.22214/ijraset.2022.4323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close-up of a pill&#10;&#10;AI-generated content may be incorrect.">
            <a:extLst>
              <a:ext uri="{FF2B5EF4-FFF2-40B4-BE49-F238E27FC236}">
                <a16:creationId xmlns:a16="http://schemas.microsoft.com/office/drawing/2014/main" id="{0156CEEA-7B9A-7E9A-D419-EC28A5B041D5}"/>
              </a:ext>
            </a:extLst>
          </p:cNvPr>
          <p:cNvPicPr>
            <a:picLocks noChangeAspect="1"/>
          </p:cNvPicPr>
          <p:nvPr/>
        </p:nvPicPr>
        <p:blipFill>
          <a:blip r:embed="rId3"/>
          <a:srcRect l="25142" r="18513"/>
          <a:stretch>
            <a:fillRect/>
          </a:stretch>
        </p:blipFill>
        <p:spPr>
          <a:xfrm>
            <a:off x="8924858" y="2379351"/>
            <a:ext cx="12051246" cy="15132251"/>
          </a:xfrm>
          <a:custGeom>
            <a:avLst/>
            <a:gdLst/>
            <a:ahLst/>
            <a:cxnLst/>
            <a:rect l="l" t="t" r="r" b="b"/>
            <a:pathLst>
              <a:path w="6033902" h="6033902">
                <a:moveTo>
                  <a:pt x="3016951" y="0"/>
                </a:moveTo>
                <a:cubicBezTo>
                  <a:pt x="4683167" y="0"/>
                  <a:pt x="6033902" y="1350735"/>
                  <a:pt x="6033902" y="3016951"/>
                </a:cubicBezTo>
                <a:cubicBezTo>
                  <a:pt x="6033902" y="4683167"/>
                  <a:pt x="4683167" y="6033902"/>
                  <a:pt x="3016951" y="6033902"/>
                </a:cubicBezTo>
                <a:cubicBezTo>
                  <a:pt x="1350735" y="6033902"/>
                  <a:pt x="0" y="4683167"/>
                  <a:pt x="0" y="3016951"/>
                </a:cubicBezTo>
                <a:cubicBezTo>
                  <a:pt x="0" y="1350735"/>
                  <a:pt x="1350735" y="0"/>
                  <a:pt x="3016951" y="0"/>
                </a:cubicBezTo>
                <a:close/>
              </a:path>
            </a:pathLst>
          </a:custGeom>
        </p:spPr>
      </p:pic>
      <p:sp>
        <p:nvSpPr>
          <p:cNvPr id="2" name="TextBox 1">
            <a:extLst>
              <a:ext uri="{FF2B5EF4-FFF2-40B4-BE49-F238E27FC236}">
                <a16:creationId xmlns:a16="http://schemas.microsoft.com/office/drawing/2014/main" id="{DFCB2CF6-50BB-3E95-1D67-FE2151F7B487}"/>
              </a:ext>
            </a:extLst>
          </p:cNvPr>
          <p:cNvSpPr txBox="1"/>
          <p:nvPr/>
        </p:nvSpPr>
        <p:spPr>
          <a:xfrm>
            <a:off x="10951795" y="592712"/>
            <a:ext cx="7997372" cy="1107996"/>
          </a:xfrm>
          <a:prstGeom prst="rect">
            <a:avLst/>
          </a:prstGeom>
          <a:noFill/>
        </p:spPr>
        <p:txBody>
          <a:bodyPr wrap="square" rtlCol="0">
            <a:spAutoFit/>
          </a:bodyPr>
          <a:lstStyle/>
          <a:p>
            <a:r>
              <a:rPr lang="en-GB" sz="6600" dirty="0">
                <a:solidFill>
                  <a:srgbClr val="F4C882"/>
                </a:solidFill>
                <a:latin typeface="Times New Roman" panose="02020603050405020304" pitchFamily="18" charset="0"/>
                <a:cs typeface="Times New Roman" panose="02020603050405020304" pitchFamily="18" charset="0"/>
              </a:rPr>
              <a:t>Supplement Scheduler</a:t>
            </a:r>
          </a:p>
        </p:txBody>
      </p:sp>
      <p:sp>
        <p:nvSpPr>
          <p:cNvPr id="4" name="TextBox 3">
            <a:extLst>
              <a:ext uri="{FF2B5EF4-FFF2-40B4-BE49-F238E27FC236}">
                <a16:creationId xmlns:a16="http://schemas.microsoft.com/office/drawing/2014/main" id="{CA12EBB4-3B70-B79B-E5B2-F689E289AB30}"/>
              </a:ext>
            </a:extLst>
          </p:cNvPr>
          <p:cNvSpPr txBox="1"/>
          <p:nvPr/>
        </p:nvSpPr>
        <p:spPr>
          <a:xfrm>
            <a:off x="592489" y="1381620"/>
            <a:ext cx="4528458" cy="646331"/>
          </a:xfrm>
          <a:prstGeom prst="rect">
            <a:avLst/>
          </a:prstGeom>
          <a:noFill/>
        </p:spPr>
        <p:txBody>
          <a:bodyPr wrap="square" rtlCol="0">
            <a:spAutoFit/>
          </a:bodyPr>
          <a:lstStyle/>
          <a:p>
            <a:r>
              <a:rPr lang="en-GB" sz="3600" dirty="0">
                <a:solidFill>
                  <a:srgbClr val="F4C882"/>
                </a:solidFill>
                <a:latin typeface="Times New Roman" panose="02020603050405020304" pitchFamily="18" charset="0"/>
                <a:cs typeface="Times New Roman" panose="02020603050405020304" pitchFamily="18" charset="0"/>
              </a:rPr>
              <a:t>by Umme Aneesah</a:t>
            </a:r>
          </a:p>
        </p:txBody>
      </p:sp>
      <p:sp>
        <p:nvSpPr>
          <p:cNvPr id="5" name="TextBox 4">
            <a:extLst>
              <a:ext uri="{FF2B5EF4-FFF2-40B4-BE49-F238E27FC236}">
                <a16:creationId xmlns:a16="http://schemas.microsoft.com/office/drawing/2014/main" id="{9D014D22-7F92-E19C-71E6-09DC72DF82BA}"/>
              </a:ext>
            </a:extLst>
          </p:cNvPr>
          <p:cNvSpPr txBox="1"/>
          <p:nvPr/>
        </p:nvSpPr>
        <p:spPr>
          <a:xfrm>
            <a:off x="4547204" y="1351970"/>
            <a:ext cx="3183290" cy="646331"/>
          </a:xfrm>
          <a:prstGeom prst="rect">
            <a:avLst/>
          </a:prstGeom>
          <a:noFill/>
        </p:spPr>
        <p:txBody>
          <a:bodyPr wrap="square" rtlCol="0">
            <a:spAutoFit/>
          </a:bodyPr>
          <a:lstStyle/>
          <a:p>
            <a:r>
              <a:rPr lang="en-GB" sz="3600" dirty="0">
                <a:solidFill>
                  <a:srgbClr val="F4C882"/>
                </a:solidFill>
                <a:latin typeface="Times New Roman" panose="02020603050405020304" pitchFamily="18" charset="0"/>
                <a:cs typeface="Times New Roman" panose="02020603050405020304" pitchFamily="18" charset="0"/>
              </a:rPr>
              <a:t>w1972265</a:t>
            </a:r>
          </a:p>
        </p:txBody>
      </p:sp>
      <p:sp>
        <p:nvSpPr>
          <p:cNvPr id="6" name="TextBox 5">
            <a:extLst>
              <a:ext uri="{FF2B5EF4-FFF2-40B4-BE49-F238E27FC236}">
                <a16:creationId xmlns:a16="http://schemas.microsoft.com/office/drawing/2014/main" id="{6D3EB797-DEA3-7CF4-8D5A-57AE19529A3B}"/>
              </a:ext>
            </a:extLst>
          </p:cNvPr>
          <p:cNvSpPr txBox="1"/>
          <p:nvPr/>
        </p:nvSpPr>
        <p:spPr>
          <a:xfrm>
            <a:off x="22844820" y="1213787"/>
            <a:ext cx="6618515" cy="646331"/>
          </a:xfrm>
          <a:prstGeom prst="rect">
            <a:avLst/>
          </a:prstGeom>
          <a:noFill/>
        </p:spPr>
        <p:txBody>
          <a:bodyPr wrap="square" rtlCol="0">
            <a:spAutoFit/>
          </a:bodyPr>
          <a:lstStyle/>
          <a:p>
            <a:r>
              <a:rPr lang="en-GB" sz="3600" dirty="0">
                <a:solidFill>
                  <a:srgbClr val="F4C882"/>
                </a:solidFill>
                <a:latin typeface="Times New Roman" panose="02020603050405020304" pitchFamily="18" charset="0"/>
                <a:cs typeface="Times New Roman" panose="02020603050405020304" pitchFamily="18" charset="0"/>
              </a:rPr>
              <a:t>Supervisor: Salma Chahed</a:t>
            </a:r>
          </a:p>
        </p:txBody>
      </p:sp>
      <p:sp>
        <p:nvSpPr>
          <p:cNvPr id="7" name="TextBox 6">
            <a:extLst>
              <a:ext uri="{FF2B5EF4-FFF2-40B4-BE49-F238E27FC236}">
                <a16:creationId xmlns:a16="http://schemas.microsoft.com/office/drawing/2014/main" id="{24ED48EE-371D-21FA-774B-A3415F67B07A}"/>
              </a:ext>
            </a:extLst>
          </p:cNvPr>
          <p:cNvSpPr txBox="1"/>
          <p:nvPr/>
        </p:nvSpPr>
        <p:spPr>
          <a:xfrm>
            <a:off x="592489" y="4818889"/>
            <a:ext cx="7014257" cy="1754326"/>
          </a:xfrm>
          <a:prstGeom prst="rect">
            <a:avLst/>
          </a:prstGeom>
          <a:noFill/>
        </p:spPr>
        <p:txBody>
          <a:bodyPr wrap="square" rtlCol="0">
            <a:spAutoFit/>
          </a:bodyPr>
          <a:lstStyle/>
          <a:p>
            <a:r>
              <a:rPr lang="en-GB" sz="1800" dirty="0">
                <a:solidFill>
                  <a:srgbClr val="F4C882"/>
                </a:solidFill>
                <a:latin typeface="Times New Roman" panose="02020603050405020304" pitchFamily="18" charset="0"/>
                <a:cs typeface="Times New Roman" panose="02020603050405020304" pitchFamily="18" charset="0"/>
              </a:rPr>
              <a:t>Vitamins and Supplements have become a part of our daily routines, but what schedule do we follow? The supplement market is highly competitive, making it challenging to determine which supplements to take and when to take them. Especially when multiple supplements are available, it is not possible to take them all at the same time, so scheduling becomes necessary to establish a more efficient supplement intake. </a:t>
            </a:r>
          </a:p>
        </p:txBody>
      </p:sp>
      <p:sp>
        <p:nvSpPr>
          <p:cNvPr id="9" name="TextBox 8">
            <a:extLst>
              <a:ext uri="{FF2B5EF4-FFF2-40B4-BE49-F238E27FC236}">
                <a16:creationId xmlns:a16="http://schemas.microsoft.com/office/drawing/2014/main" id="{B4263028-874E-1831-0BD8-181376DF3C09}"/>
              </a:ext>
            </a:extLst>
          </p:cNvPr>
          <p:cNvSpPr txBox="1"/>
          <p:nvPr/>
        </p:nvSpPr>
        <p:spPr>
          <a:xfrm>
            <a:off x="13157801" y="3694638"/>
            <a:ext cx="3959610" cy="646331"/>
          </a:xfrm>
          <a:prstGeom prst="rect">
            <a:avLst/>
          </a:prstGeom>
          <a:noFill/>
        </p:spPr>
        <p:txBody>
          <a:bodyPr wrap="square" rtlCol="0">
            <a:spAutoFit/>
          </a:bodyPr>
          <a:lstStyle/>
          <a:p>
            <a:pPr algn="ctr"/>
            <a:r>
              <a:rPr lang="en-GB" sz="3600" dirty="0">
                <a:solidFill>
                  <a:schemeClr val="bg1"/>
                </a:solidFill>
                <a:latin typeface="Times New Roman" panose="02020603050405020304" pitchFamily="18" charset="0"/>
                <a:cs typeface="Times New Roman" panose="02020603050405020304" pitchFamily="18" charset="0"/>
              </a:rPr>
              <a:t>Aims &amp; Objectives</a:t>
            </a:r>
          </a:p>
        </p:txBody>
      </p:sp>
      <p:sp>
        <p:nvSpPr>
          <p:cNvPr id="10" name="TextBox 9">
            <a:extLst>
              <a:ext uri="{FF2B5EF4-FFF2-40B4-BE49-F238E27FC236}">
                <a16:creationId xmlns:a16="http://schemas.microsoft.com/office/drawing/2014/main" id="{EDDFC460-D0DF-0194-DDAC-06DF9C6A98BC}"/>
              </a:ext>
            </a:extLst>
          </p:cNvPr>
          <p:cNvSpPr txBox="1"/>
          <p:nvPr/>
        </p:nvSpPr>
        <p:spPr>
          <a:xfrm rot="10800000" flipV="1">
            <a:off x="11124199" y="7681675"/>
            <a:ext cx="7652564" cy="923330"/>
          </a:xfrm>
          <a:prstGeom prst="rect">
            <a:avLst/>
          </a:prstGeom>
          <a:noFill/>
        </p:spPr>
        <p:txBody>
          <a:bodyPr wrap="square" rtlCol="0">
            <a:spAutoFit/>
          </a:bodyPr>
          <a:lstStyle/>
          <a:p>
            <a:pPr algn="ctr"/>
            <a:r>
              <a:rPr lang="en-GB" sz="1800" dirty="0">
                <a:solidFill>
                  <a:schemeClr val="bg1"/>
                </a:solidFill>
                <a:latin typeface="Times New Roman" panose="02020603050405020304" pitchFamily="18" charset="0"/>
                <a:cs typeface="Times New Roman" panose="02020603050405020304" pitchFamily="18" charset="0"/>
              </a:rPr>
              <a:t>To build a user-friendly web application using data-driven insights to generate personalised schedules to help users effectively implement and manage their daily nutrient intake. </a:t>
            </a:r>
          </a:p>
        </p:txBody>
      </p:sp>
      <p:sp>
        <p:nvSpPr>
          <p:cNvPr id="11" name="TextBox 10">
            <a:extLst>
              <a:ext uri="{FF2B5EF4-FFF2-40B4-BE49-F238E27FC236}">
                <a16:creationId xmlns:a16="http://schemas.microsoft.com/office/drawing/2014/main" id="{69B3C37D-72C9-084D-3B35-6EFB3696860E}"/>
              </a:ext>
            </a:extLst>
          </p:cNvPr>
          <p:cNvSpPr txBox="1"/>
          <p:nvPr/>
        </p:nvSpPr>
        <p:spPr>
          <a:xfrm>
            <a:off x="11619176" y="8924359"/>
            <a:ext cx="6071790" cy="2228431"/>
          </a:xfrm>
          <a:prstGeom prst="rect">
            <a:avLst/>
          </a:prstGeom>
          <a:noFill/>
        </p:spPr>
        <p:txBody>
          <a:bodyPr wrap="square" rtlCol="0">
            <a:spAutoFit/>
          </a:bodyPr>
          <a:lstStyle/>
          <a:p>
            <a:pPr marL="857250" indent="-857250" algn="ctr">
              <a:buFont typeface="Arial" panose="020B0604020202020204" pitchFamily="34" charset="0"/>
              <a:buChar char="•"/>
            </a:pPr>
            <a:r>
              <a:rPr lang="en-GB" sz="1800" dirty="0">
                <a:solidFill>
                  <a:schemeClr val="bg1"/>
                </a:solidFill>
                <a:latin typeface="Times New Roman" panose="02020603050405020304" pitchFamily="18" charset="0"/>
                <a:cs typeface="Times New Roman" panose="02020603050405020304" pitchFamily="18" charset="0"/>
              </a:rPr>
              <a:t>Review articles with information about supplement dosages </a:t>
            </a:r>
          </a:p>
          <a:p>
            <a:pPr marL="685800" indent="-685800" algn="ctr">
              <a:buFont typeface="Arial" panose="020B0604020202020204" pitchFamily="34" charset="0"/>
              <a:buChar char="•"/>
            </a:pPr>
            <a:r>
              <a:rPr lang="en-GB" sz="1800" dirty="0">
                <a:solidFill>
                  <a:schemeClr val="bg1"/>
                </a:solidFill>
                <a:latin typeface="Times New Roman" panose="02020603050405020304" pitchFamily="18" charset="0"/>
                <a:cs typeface="Times New Roman" panose="02020603050405020304" pitchFamily="18" charset="0"/>
              </a:rPr>
              <a:t>Use Python to preprocess the supplement dataset</a:t>
            </a:r>
          </a:p>
          <a:p>
            <a:pPr marL="685800" indent="-685800" algn="ctr">
              <a:buFont typeface="Arial" panose="020B0604020202020204" pitchFamily="34" charset="0"/>
              <a:buChar char="•"/>
            </a:pPr>
            <a:r>
              <a:rPr lang="en-GB" sz="1800" dirty="0">
                <a:solidFill>
                  <a:schemeClr val="bg1"/>
                </a:solidFill>
                <a:latin typeface="Times New Roman" panose="02020603050405020304" pitchFamily="18" charset="0"/>
                <a:cs typeface="Times New Roman" panose="02020603050405020304" pitchFamily="18" charset="0"/>
              </a:rPr>
              <a:t>Develop a web-based prototype with a personalised supplement schedule</a:t>
            </a:r>
          </a:p>
          <a:p>
            <a:endParaRPr lang="en-GB" dirty="0"/>
          </a:p>
        </p:txBody>
      </p:sp>
      <p:sp>
        <p:nvSpPr>
          <p:cNvPr id="18" name="TextBox 17">
            <a:extLst>
              <a:ext uri="{FF2B5EF4-FFF2-40B4-BE49-F238E27FC236}">
                <a16:creationId xmlns:a16="http://schemas.microsoft.com/office/drawing/2014/main" id="{C777907B-627A-2CC5-E076-ECB2B32D6B50}"/>
              </a:ext>
            </a:extLst>
          </p:cNvPr>
          <p:cNvSpPr txBox="1"/>
          <p:nvPr/>
        </p:nvSpPr>
        <p:spPr>
          <a:xfrm>
            <a:off x="592489" y="3769814"/>
            <a:ext cx="5546361" cy="646331"/>
          </a:xfrm>
          <a:prstGeom prst="rect">
            <a:avLst/>
          </a:prstGeom>
          <a:noFill/>
        </p:spPr>
        <p:txBody>
          <a:bodyPr wrap="square" rtlCol="0">
            <a:spAutoFit/>
          </a:bodyPr>
          <a:lstStyle/>
          <a:p>
            <a:r>
              <a:rPr lang="en-GB" sz="3600" dirty="0">
                <a:solidFill>
                  <a:srgbClr val="F4C882"/>
                </a:solidFill>
                <a:latin typeface="Times New Roman" panose="02020603050405020304" pitchFamily="18" charset="0"/>
                <a:cs typeface="Times New Roman" panose="02020603050405020304" pitchFamily="18" charset="0"/>
              </a:rPr>
              <a:t>The Problem</a:t>
            </a:r>
          </a:p>
        </p:txBody>
      </p:sp>
      <p:sp>
        <p:nvSpPr>
          <p:cNvPr id="19" name="TextBox 18">
            <a:extLst>
              <a:ext uri="{FF2B5EF4-FFF2-40B4-BE49-F238E27FC236}">
                <a16:creationId xmlns:a16="http://schemas.microsoft.com/office/drawing/2014/main" id="{9E922BC3-4947-7E2F-D89C-BF0BBD09A308}"/>
              </a:ext>
            </a:extLst>
          </p:cNvPr>
          <p:cNvSpPr txBox="1"/>
          <p:nvPr/>
        </p:nvSpPr>
        <p:spPr>
          <a:xfrm>
            <a:off x="20716571" y="3691133"/>
            <a:ext cx="5377425" cy="646331"/>
          </a:xfrm>
          <a:prstGeom prst="rect">
            <a:avLst/>
          </a:prstGeom>
          <a:noFill/>
        </p:spPr>
        <p:txBody>
          <a:bodyPr wrap="square" rtlCol="0">
            <a:spAutoFit/>
          </a:bodyPr>
          <a:lstStyle/>
          <a:p>
            <a:r>
              <a:rPr lang="en-GB" sz="3600" dirty="0">
                <a:solidFill>
                  <a:srgbClr val="F4C882"/>
                </a:solidFill>
                <a:latin typeface="Times New Roman" panose="02020603050405020304" pitchFamily="18" charset="0"/>
                <a:cs typeface="Times New Roman" panose="02020603050405020304" pitchFamily="18" charset="0"/>
              </a:rPr>
              <a:t>The Solution</a:t>
            </a:r>
          </a:p>
        </p:txBody>
      </p:sp>
      <p:sp>
        <p:nvSpPr>
          <p:cNvPr id="20" name="TextBox 19">
            <a:extLst>
              <a:ext uri="{FF2B5EF4-FFF2-40B4-BE49-F238E27FC236}">
                <a16:creationId xmlns:a16="http://schemas.microsoft.com/office/drawing/2014/main" id="{006BBA55-C1E4-068D-35B5-BFC9EC84F8C5}"/>
              </a:ext>
            </a:extLst>
          </p:cNvPr>
          <p:cNvSpPr txBox="1"/>
          <p:nvPr/>
        </p:nvSpPr>
        <p:spPr>
          <a:xfrm>
            <a:off x="20716571" y="4818889"/>
            <a:ext cx="8054618" cy="1754326"/>
          </a:xfrm>
          <a:prstGeom prst="rect">
            <a:avLst/>
          </a:prstGeom>
          <a:noFill/>
        </p:spPr>
        <p:txBody>
          <a:bodyPr wrap="square" rtlCol="0">
            <a:spAutoFit/>
          </a:bodyPr>
          <a:lstStyle/>
          <a:p>
            <a:r>
              <a:rPr lang="en-GB" sz="1800" dirty="0">
                <a:solidFill>
                  <a:srgbClr val="F4C882"/>
                </a:solidFill>
                <a:latin typeface="Times New Roman" panose="02020603050405020304" pitchFamily="18" charset="0"/>
                <a:cs typeface="Times New Roman" panose="02020603050405020304" pitchFamily="18" charset="0"/>
              </a:rPr>
              <a:t>A website that provides personalised schedules based on the supplements inputted, It will take into account the recommended effective dosages and times to take these supplements throughout the day, for a more efficient outcome. Supplements are more effective when taken at the correct dosage and at specific times of the day, which most users are not aware of. Once a personalised schedule is created for the user, they should notice a change in the effectiveness of the supplements they take. </a:t>
            </a:r>
          </a:p>
        </p:txBody>
      </p:sp>
      <p:sp>
        <p:nvSpPr>
          <p:cNvPr id="21" name="TextBox 20">
            <a:extLst>
              <a:ext uri="{FF2B5EF4-FFF2-40B4-BE49-F238E27FC236}">
                <a16:creationId xmlns:a16="http://schemas.microsoft.com/office/drawing/2014/main" id="{CCF3EE68-9A74-1A74-F5CA-71399E5EEF21}"/>
              </a:ext>
            </a:extLst>
          </p:cNvPr>
          <p:cNvSpPr txBox="1"/>
          <p:nvPr/>
        </p:nvSpPr>
        <p:spPr>
          <a:xfrm>
            <a:off x="592489" y="14934872"/>
            <a:ext cx="5029036" cy="646331"/>
          </a:xfrm>
          <a:prstGeom prst="rect">
            <a:avLst/>
          </a:prstGeom>
          <a:noFill/>
        </p:spPr>
        <p:txBody>
          <a:bodyPr wrap="square" rtlCol="0">
            <a:spAutoFit/>
          </a:bodyPr>
          <a:lstStyle/>
          <a:p>
            <a:r>
              <a:rPr lang="en-GB" sz="3600" dirty="0">
                <a:solidFill>
                  <a:srgbClr val="F4C882"/>
                </a:solidFill>
                <a:latin typeface="Times New Roman" panose="02020603050405020304" pitchFamily="18" charset="0"/>
                <a:cs typeface="Times New Roman" panose="02020603050405020304" pitchFamily="18" charset="0"/>
              </a:rPr>
              <a:t>The When</a:t>
            </a:r>
          </a:p>
        </p:txBody>
      </p:sp>
      <p:sp>
        <p:nvSpPr>
          <p:cNvPr id="22" name="TextBox 21">
            <a:extLst>
              <a:ext uri="{FF2B5EF4-FFF2-40B4-BE49-F238E27FC236}">
                <a16:creationId xmlns:a16="http://schemas.microsoft.com/office/drawing/2014/main" id="{CE9C44F8-D566-49E3-A20A-37D8E1617586}"/>
              </a:ext>
            </a:extLst>
          </p:cNvPr>
          <p:cNvSpPr txBox="1"/>
          <p:nvPr/>
        </p:nvSpPr>
        <p:spPr>
          <a:xfrm>
            <a:off x="20386268" y="14788256"/>
            <a:ext cx="4976734" cy="646331"/>
          </a:xfrm>
          <a:prstGeom prst="rect">
            <a:avLst/>
          </a:prstGeom>
          <a:noFill/>
        </p:spPr>
        <p:txBody>
          <a:bodyPr wrap="square" rtlCol="0">
            <a:spAutoFit/>
          </a:bodyPr>
          <a:lstStyle/>
          <a:p>
            <a:r>
              <a:rPr lang="en-GB" sz="3600" dirty="0">
                <a:solidFill>
                  <a:srgbClr val="F4C882"/>
                </a:solidFill>
                <a:latin typeface="Times New Roman" panose="02020603050405020304" pitchFamily="18" charset="0"/>
                <a:cs typeface="Times New Roman" panose="02020603050405020304" pitchFamily="18" charset="0"/>
              </a:rPr>
              <a:t>The How</a:t>
            </a:r>
          </a:p>
        </p:txBody>
      </p:sp>
      <p:sp>
        <p:nvSpPr>
          <p:cNvPr id="12" name="TextBox 11">
            <a:extLst>
              <a:ext uri="{FF2B5EF4-FFF2-40B4-BE49-F238E27FC236}">
                <a16:creationId xmlns:a16="http://schemas.microsoft.com/office/drawing/2014/main" id="{B22404D6-04AC-3A1B-8F6A-A03D4A899B64}"/>
              </a:ext>
            </a:extLst>
          </p:cNvPr>
          <p:cNvSpPr txBox="1"/>
          <p:nvPr/>
        </p:nvSpPr>
        <p:spPr>
          <a:xfrm>
            <a:off x="604269" y="7624611"/>
            <a:ext cx="3236686" cy="646331"/>
          </a:xfrm>
          <a:prstGeom prst="rect">
            <a:avLst/>
          </a:prstGeom>
          <a:noFill/>
        </p:spPr>
        <p:txBody>
          <a:bodyPr wrap="square" rtlCol="0">
            <a:spAutoFit/>
          </a:bodyPr>
          <a:lstStyle/>
          <a:p>
            <a:r>
              <a:rPr lang="en-GB" sz="3600" dirty="0">
                <a:solidFill>
                  <a:srgbClr val="F4C882"/>
                </a:solidFill>
                <a:latin typeface="Times New Roman" panose="02020603050405020304" pitchFamily="18" charset="0"/>
                <a:cs typeface="Times New Roman" panose="02020603050405020304" pitchFamily="18" charset="0"/>
              </a:rPr>
              <a:t>The Tools</a:t>
            </a:r>
          </a:p>
        </p:txBody>
      </p:sp>
      <p:sp>
        <p:nvSpPr>
          <p:cNvPr id="13" name="TextBox 12">
            <a:extLst>
              <a:ext uri="{FF2B5EF4-FFF2-40B4-BE49-F238E27FC236}">
                <a16:creationId xmlns:a16="http://schemas.microsoft.com/office/drawing/2014/main" id="{6D91F8FE-CE5C-C847-B743-B588F11FA4E7}"/>
              </a:ext>
            </a:extLst>
          </p:cNvPr>
          <p:cNvSpPr txBox="1"/>
          <p:nvPr/>
        </p:nvSpPr>
        <p:spPr>
          <a:xfrm>
            <a:off x="21169243" y="7624611"/>
            <a:ext cx="2610908" cy="646331"/>
          </a:xfrm>
          <a:prstGeom prst="rect">
            <a:avLst/>
          </a:prstGeom>
          <a:noFill/>
        </p:spPr>
        <p:txBody>
          <a:bodyPr wrap="square" rtlCol="0">
            <a:spAutoFit/>
          </a:bodyPr>
          <a:lstStyle/>
          <a:p>
            <a:r>
              <a:rPr lang="en-GB" sz="3600" dirty="0">
                <a:solidFill>
                  <a:srgbClr val="F4C882"/>
                </a:solidFill>
                <a:latin typeface="Times New Roman" panose="02020603050405020304" pitchFamily="18" charset="0"/>
                <a:cs typeface="Times New Roman" panose="02020603050405020304" pitchFamily="18" charset="0"/>
              </a:rPr>
              <a:t>The Skills</a:t>
            </a:r>
          </a:p>
        </p:txBody>
      </p:sp>
      <p:sp>
        <p:nvSpPr>
          <p:cNvPr id="14" name="TextBox 13">
            <a:extLst>
              <a:ext uri="{FF2B5EF4-FFF2-40B4-BE49-F238E27FC236}">
                <a16:creationId xmlns:a16="http://schemas.microsoft.com/office/drawing/2014/main" id="{221DF9F2-7439-9D5B-E378-6B56A1C2D205}"/>
              </a:ext>
            </a:extLst>
          </p:cNvPr>
          <p:cNvSpPr txBox="1"/>
          <p:nvPr/>
        </p:nvSpPr>
        <p:spPr>
          <a:xfrm>
            <a:off x="3146305" y="8406060"/>
            <a:ext cx="4260336" cy="1477328"/>
          </a:xfrm>
          <a:prstGeom prst="rect">
            <a:avLst/>
          </a:prstGeom>
          <a:noFill/>
        </p:spPr>
        <p:txBody>
          <a:bodyPr wrap="square" rtlCol="0">
            <a:spAutoFit/>
          </a:bodyPr>
          <a:lstStyle/>
          <a:p>
            <a:r>
              <a:rPr lang="en-GB" sz="1800" dirty="0">
                <a:solidFill>
                  <a:srgbClr val="F4C882"/>
                </a:solidFill>
                <a:latin typeface="Times New Roman" panose="02020603050405020304" pitchFamily="18" charset="0"/>
                <a:cs typeface="Times New Roman" panose="02020603050405020304" pitchFamily="18" charset="0"/>
              </a:rPr>
              <a:t>Uploading different materials used in the making of this project into a GitHub repository to keep track of the project as well as keep record of the project to use as a portfolio. </a:t>
            </a:r>
          </a:p>
        </p:txBody>
      </p:sp>
      <p:sp>
        <p:nvSpPr>
          <p:cNvPr id="15" name="TextBox 14">
            <a:extLst>
              <a:ext uri="{FF2B5EF4-FFF2-40B4-BE49-F238E27FC236}">
                <a16:creationId xmlns:a16="http://schemas.microsoft.com/office/drawing/2014/main" id="{3ED84196-9661-6374-BCE8-ADBA9093ABD3}"/>
              </a:ext>
            </a:extLst>
          </p:cNvPr>
          <p:cNvSpPr txBox="1"/>
          <p:nvPr/>
        </p:nvSpPr>
        <p:spPr>
          <a:xfrm rot="10800000" flipV="1">
            <a:off x="27554308" y="11855715"/>
            <a:ext cx="2085899" cy="923330"/>
          </a:xfrm>
          <a:prstGeom prst="rect">
            <a:avLst/>
          </a:prstGeom>
          <a:noFill/>
        </p:spPr>
        <p:txBody>
          <a:bodyPr wrap="square" rtlCol="0">
            <a:spAutoFit/>
          </a:bodyPr>
          <a:lstStyle/>
          <a:p>
            <a:r>
              <a:rPr lang="en-GB" sz="1800" dirty="0">
                <a:solidFill>
                  <a:srgbClr val="F4C882"/>
                </a:solidFill>
                <a:latin typeface="Times New Roman" panose="02020603050405020304" pitchFamily="18" charset="0"/>
                <a:cs typeface="Times New Roman" panose="02020603050405020304" pitchFamily="18" charset="0"/>
              </a:rPr>
              <a:t>Web deployment to make the website available for users</a:t>
            </a:r>
          </a:p>
        </p:txBody>
      </p:sp>
      <p:pic>
        <p:nvPicPr>
          <p:cNvPr id="41" name="Picture 40">
            <a:extLst>
              <a:ext uri="{FF2B5EF4-FFF2-40B4-BE49-F238E27FC236}">
                <a16:creationId xmlns:a16="http://schemas.microsoft.com/office/drawing/2014/main" id="{15FFA232-4827-6562-C24B-DA906FCB768D}"/>
              </a:ext>
            </a:extLst>
          </p:cNvPr>
          <p:cNvPicPr>
            <a:picLocks noChangeAspect="1"/>
          </p:cNvPicPr>
          <p:nvPr/>
        </p:nvPicPr>
        <p:blipFill>
          <a:blip r:embed="rId4"/>
          <a:srcRect l="4459" t="24793" r="4798" b="9721"/>
          <a:stretch>
            <a:fillRect/>
          </a:stretch>
        </p:blipFill>
        <p:spPr>
          <a:xfrm>
            <a:off x="604356" y="15653895"/>
            <a:ext cx="9496876" cy="514028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3" name="Picture 42">
            <a:extLst>
              <a:ext uri="{FF2B5EF4-FFF2-40B4-BE49-F238E27FC236}">
                <a16:creationId xmlns:a16="http://schemas.microsoft.com/office/drawing/2014/main" id="{457687F0-4EB1-4B11-E464-57C0A6B36F22}"/>
              </a:ext>
            </a:extLst>
          </p:cNvPr>
          <p:cNvPicPr>
            <a:picLocks noChangeAspect="1"/>
          </p:cNvPicPr>
          <p:nvPr/>
        </p:nvPicPr>
        <p:blipFill>
          <a:blip r:embed="rId5"/>
          <a:stretch>
            <a:fillRect/>
          </a:stretch>
        </p:blipFill>
        <p:spPr>
          <a:xfrm>
            <a:off x="25865968" y="11497603"/>
            <a:ext cx="1477598" cy="1711696"/>
          </a:xfrm>
          <a:prstGeom prst="rect">
            <a:avLst/>
          </a:prstGeom>
        </p:spPr>
      </p:pic>
      <p:pic>
        <p:nvPicPr>
          <p:cNvPr id="45" name="Picture 44">
            <a:extLst>
              <a:ext uri="{FF2B5EF4-FFF2-40B4-BE49-F238E27FC236}">
                <a16:creationId xmlns:a16="http://schemas.microsoft.com/office/drawing/2014/main" id="{E60FF3DC-B026-9D07-25CB-1457E502713D}"/>
              </a:ext>
            </a:extLst>
          </p:cNvPr>
          <p:cNvPicPr>
            <a:picLocks noChangeAspect="1"/>
          </p:cNvPicPr>
          <p:nvPr/>
        </p:nvPicPr>
        <p:blipFill>
          <a:blip r:embed="rId6"/>
          <a:stretch>
            <a:fillRect/>
          </a:stretch>
        </p:blipFill>
        <p:spPr>
          <a:xfrm>
            <a:off x="25562378" y="8605005"/>
            <a:ext cx="1781188" cy="1552586"/>
          </a:xfrm>
          <a:prstGeom prst="rect">
            <a:avLst/>
          </a:prstGeom>
        </p:spPr>
      </p:pic>
      <p:pic>
        <p:nvPicPr>
          <p:cNvPr id="47" name="Picture 46">
            <a:extLst>
              <a:ext uri="{FF2B5EF4-FFF2-40B4-BE49-F238E27FC236}">
                <a16:creationId xmlns:a16="http://schemas.microsoft.com/office/drawing/2014/main" id="{F5298778-DF88-87E8-4473-216DA0797CC4}"/>
              </a:ext>
            </a:extLst>
          </p:cNvPr>
          <p:cNvPicPr>
            <a:picLocks noChangeAspect="1"/>
          </p:cNvPicPr>
          <p:nvPr/>
        </p:nvPicPr>
        <p:blipFill>
          <a:blip r:embed="rId7"/>
          <a:stretch>
            <a:fillRect/>
          </a:stretch>
        </p:blipFill>
        <p:spPr>
          <a:xfrm>
            <a:off x="21445182" y="8522124"/>
            <a:ext cx="1462098" cy="1762138"/>
          </a:xfrm>
          <a:prstGeom prst="rect">
            <a:avLst/>
          </a:prstGeom>
        </p:spPr>
      </p:pic>
      <p:pic>
        <p:nvPicPr>
          <p:cNvPr id="49" name="Picture 48">
            <a:extLst>
              <a:ext uri="{FF2B5EF4-FFF2-40B4-BE49-F238E27FC236}">
                <a16:creationId xmlns:a16="http://schemas.microsoft.com/office/drawing/2014/main" id="{C801583B-1B00-2C85-091D-95FFD2CD3392}"/>
              </a:ext>
            </a:extLst>
          </p:cNvPr>
          <p:cNvPicPr>
            <a:picLocks noChangeAspect="1"/>
          </p:cNvPicPr>
          <p:nvPr/>
        </p:nvPicPr>
        <p:blipFill>
          <a:blip r:embed="rId8"/>
          <a:stretch>
            <a:fillRect/>
          </a:stretch>
        </p:blipFill>
        <p:spPr>
          <a:xfrm>
            <a:off x="21082746" y="11685278"/>
            <a:ext cx="1905014" cy="1562111"/>
          </a:xfrm>
          <a:prstGeom prst="rect">
            <a:avLst/>
          </a:prstGeom>
        </p:spPr>
      </p:pic>
      <p:pic>
        <p:nvPicPr>
          <p:cNvPr id="51" name="Picture 50">
            <a:extLst>
              <a:ext uri="{FF2B5EF4-FFF2-40B4-BE49-F238E27FC236}">
                <a16:creationId xmlns:a16="http://schemas.microsoft.com/office/drawing/2014/main" id="{D9AAAA93-C917-4AE6-53D6-612CF0617E55}"/>
              </a:ext>
            </a:extLst>
          </p:cNvPr>
          <p:cNvPicPr>
            <a:picLocks noChangeAspect="1"/>
          </p:cNvPicPr>
          <p:nvPr/>
        </p:nvPicPr>
        <p:blipFill>
          <a:blip r:embed="rId9"/>
          <a:stretch>
            <a:fillRect/>
          </a:stretch>
        </p:blipFill>
        <p:spPr>
          <a:xfrm>
            <a:off x="719464" y="8481444"/>
            <a:ext cx="1914539" cy="885831"/>
          </a:xfrm>
          <a:prstGeom prst="rect">
            <a:avLst/>
          </a:prstGeom>
        </p:spPr>
      </p:pic>
      <p:pic>
        <p:nvPicPr>
          <p:cNvPr id="53" name="Picture 52">
            <a:extLst>
              <a:ext uri="{FF2B5EF4-FFF2-40B4-BE49-F238E27FC236}">
                <a16:creationId xmlns:a16="http://schemas.microsoft.com/office/drawing/2014/main" id="{77DB1FA8-FD94-9811-B5D9-CC036B602E47}"/>
              </a:ext>
            </a:extLst>
          </p:cNvPr>
          <p:cNvPicPr>
            <a:picLocks noChangeAspect="1"/>
          </p:cNvPicPr>
          <p:nvPr/>
        </p:nvPicPr>
        <p:blipFill>
          <a:blip r:embed="rId10"/>
          <a:stretch>
            <a:fillRect/>
          </a:stretch>
        </p:blipFill>
        <p:spPr>
          <a:xfrm>
            <a:off x="831952" y="9706890"/>
            <a:ext cx="1390660" cy="1790713"/>
          </a:xfrm>
          <a:prstGeom prst="rect">
            <a:avLst/>
          </a:prstGeom>
        </p:spPr>
      </p:pic>
      <p:pic>
        <p:nvPicPr>
          <p:cNvPr id="55" name="Picture 54">
            <a:extLst>
              <a:ext uri="{FF2B5EF4-FFF2-40B4-BE49-F238E27FC236}">
                <a16:creationId xmlns:a16="http://schemas.microsoft.com/office/drawing/2014/main" id="{635EF750-D04D-D66D-7A46-A1A14D88FDBF}"/>
              </a:ext>
            </a:extLst>
          </p:cNvPr>
          <p:cNvPicPr>
            <a:picLocks noChangeAspect="1"/>
          </p:cNvPicPr>
          <p:nvPr/>
        </p:nvPicPr>
        <p:blipFill>
          <a:blip r:embed="rId11"/>
          <a:stretch>
            <a:fillRect/>
          </a:stretch>
        </p:blipFill>
        <p:spPr>
          <a:xfrm>
            <a:off x="946253" y="12042538"/>
            <a:ext cx="1162058" cy="1524011"/>
          </a:xfrm>
          <a:prstGeom prst="rect">
            <a:avLst/>
          </a:prstGeom>
        </p:spPr>
      </p:pic>
      <p:pic>
        <p:nvPicPr>
          <p:cNvPr id="56" name="Picture 55">
            <a:extLst>
              <a:ext uri="{FF2B5EF4-FFF2-40B4-BE49-F238E27FC236}">
                <a16:creationId xmlns:a16="http://schemas.microsoft.com/office/drawing/2014/main" id="{68A32B75-D3AA-3EEB-7CEA-093809510524}"/>
              </a:ext>
            </a:extLst>
          </p:cNvPr>
          <p:cNvPicPr>
            <a:picLocks noChangeAspect="1"/>
          </p:cNvPicPr>
          <p:nvPr/>
        </p:nvPicPr>
        <p:blipFill>
          <a:blip r:embed="rId12"/>
          <a:srcRect l="11862" t="56913" r="55369" b="13102"/>
          <a:stretch>
            <a:fillRect/>
          </a:stretch>
        </p:blipFill>
        <p:spPr>
          <a:xfrm>
            <a:off x="19772349" y="15561943"/>
            <a:ext cx="9910375" cy="519714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8" name="TextBox 57">
            <a:extLst>
              <a:ext uri="{FF2B5EF4-FFF2-40B4-BE49-F238E27FC236}">
                <a16:creationId xmlns:a16="http://schemas.microsoft.com/office/drawing/2014/main" id="{317D6114-C685-C1CA-E8F4-DCEEC8B6EFB4}"/>
              </a:ext>
            </a:extLst>
          </p:cNvPr>
          <p:cNvSpPr txBox="1"/>
          <p:nvPr/>
        </p:nvSpPr>
        <p:spPr>
          <a:xfrm>
            <a:off x="23186388" y="8837746"/>
            <a:ext cx="1902582" cy="923330"/>
          </a:xfrm>
          <a:prstGeom prst="rect">
            <a:avLst/>
          </a:prstGeom>
          <a:noFill/>
        </p:spPr>
        <p:txBody>
          <a:bodyPr wrap="square" rtlCol="0">
            <a:spAutoFit/>
          </a:bodyPr>
          <a:lstStyle/>
          <a:p>
            <a:r>
              <a:rPr lang="en-GB" sz="1800" dirty="0">
                <a:solidFill>
                  <a:srgbClr val="F4C882"/>
                </a:solidFill>
                <a:latin typeface="Times New Roman" panose="02020603050405020304" pitchFamily="18" charset="0"/>
                <a:cs typeface="Times New Roman" panose="02020603050405020304" pitchFamily="18" charset="0"/>
              </a:rPr>
              <a:t>Researching relevant sources to use for the project</a:t>
            </a:r>
          </a:p>
        </p:txBody>
      </p:sp>
      <p:sp>
        <p:nvSpPr>
          <p:cNvPr id="59" name="TextBox 58">
            <a:extLst>
              <a:ext uri="{FF2B5EF4-FFF2-40B4-BE49-F238E27FC236}">
                <a16:creationId xmlns:a16="http://schemas.microsoft.com/office/drawing/2014/main" id="{89D6BE4E-5F85-90B6-8CCC-35873B76DF30}"/>
              </a:ext>
            </a:extLst>
          </p:cNvPr>
          <p:cNvSpPr txBox="1"/>
          <p:nvPr/>
        </p:nvSpPr>
        <p:spPr>
          <a:xfrm>
            <a:off x="27554308" y="8745147"/>
            <a:ext cx="1888953" cy="1200329"/>
          </a:xfrm>
          <a:prstGeom prst="rect">
            <a:avLst/>
          </a:prstGeom>
          <a:noFill/>
        </p:spPr>
        <p:txBody>
          <a:bodyPr wrap="square" rtlCol="0">
            <a:spAutoFit/>
          </a:bodyPr>
          <a:lstStyle/>
          <a:p>
            <a:r>
              <a:rPr lang="en-GB" sz="1800" dirty="0">
                <a:solidFill>
                  <a:srgbClr val="F4C882"/>
                </a:solidFill>
                <a:latin typeface="Times New Roman" panose="02020603050405020304" pitchFamily="18" charset="0"/>
                <a:cs typeface="Times New Roman" panose="02020603050405020304" pitchFamily="18" charset="0"/>
              </a:rPr>
              <a:t>Programming the model based on the data for the website</a:t>
            </a:r>
          </a:p>
        </p:txBody>
      </p:sp>
      <p:sp>
        <p:nvSpPr>
          <p:cNvPr id="60" name="TextBox 59">
            <a:extLst>
              <a:ext uri="{FF2B5EF4-FFF2-40B4-BE49-F238E27FC236}">
                <a16:creationId xmlns:a16="http://schemas.microsoft.com/office/drawing/2014/main" id="{6D701B39-2B74-94BF-96DF-237B2827D82C}"/>
              </a:ext>
            </a:extLst>
          </p:cNvPr>
          <p:cNvSpPr txBox="1"/>
          <p:nvPr/>
        </p:nvSpPr>
        <p:spPr>
          <a:xfrm>
            <a:off x="23186388" y="11674501"/>
            <a:ext cx="1954858" cy="1200329"/>
          </a:xfrm>
          <a:prstGeom prst="rect">
            <a:avLst/>
          </a:prstGeom>
          <a:noFill/>
        </p:spPr>
        <p:txBody>
          <a:bodyPr wrap="square" rtlCol="0">
            <a:spAutoFit/>
          </a:bodyPr>
          <a:lstStyle/>
          <a:p>
            <a:r>
              <a:rPr lang="en-GB" sz="1800" dirty="0">
                <a:solidFill>
                  <a:srgbClr val="F4C882"/>
                </a:solidFill>
                <a:latin typeface="Times New Roman" panose="02020603050405020304" pitchFamily="18" charset="0"/>
                <a:cs typeface="Times New Roman" panose="02020603050405020304" pitchFamily="18" charset="0"/>
              </a:rPr>
              <a:t>Designing the user interface to make it user friendly and informative</a:t>
            </a:r>
          </a:p>
        </p:txBody>
      </p:sp>
      <p:sp>
        <p:nvSpPr>
          <p:cNvPr id="61" name="TextBox 60">
            <a:extLst>
              <a:ext uri="{FF2B5EF4-FFF2-40B4-BE49-F238E27FC236}">
                <a16:creationId xmlns:a16="http://schemas.microsoft.com/office/drawing/2014/main" id="{EDC1849A-B890-AEF9-C2AC-EEC96D6D4035}"/>
              </a:ext>
            </a:extLst>
          </p:cNvPr>
          <p:cNvSpPr txBox="1"/>
          <p:nvPr/>
        </p:nvSpPr>
        <p:spPr>
          <a:xfrm>
            <a:off x="3107007" y="10316521"/>
            <a:ext cx="4199508" cy="1200329"/>
          </a:xfrm>
          <a:prstGeom prst="rect">
            <a:avLst/>
          </a:prstGeom>
          <a:noFill/>
        </p:spPr>
        <p:txBody>
          <a:bodyPr wrap="square" rtlCol="0">
            <a:spAutoFit/>
          </a:bodyPr>
          <a:lstStyle/>
          <a:p>
            <a:r>
              <a:rPr lang="en-GB" sz="1800" dirty="0">
                <a:solidFill>
                  <a:srgbClr val="F4C882"/>
                </a:solidFill>
                <a:latin typeface="Times New Roman" panose="02020603050405020304" pitchFamily="18" charset="0"/>
                <a:cs typeface="Times New Roman" panose="02020603050405020304" pitchFamily="18" charset="0"/>
              </a:rPr>
              <a:t>Coding using python language when developing the model that the website will be run on. Testing the data accuracy and system output. </a:t>
            </a:r>
          </a:p>
        </p:txBody>
      </p:sp>
      <p:sp>
        <p:nvSpPr>
          <p:cNvPr id="62" name="TextBox 61">
            <a:extLst>
              <a:ext uri="{FF2B5EF4-FFF2-40B4-BE49-F238E27FC236}">
                <a16:creationId xmlns:a16="http://schemas.microsoft.com/office/drawing/2014/main" id="{50979143-FC2A-09FB-28FF-612772784C9F}"/>
              </a:ext>
            </a:extLst>
          </p:cNvPr>
          <p:cNvSpPr txBox="1"/>
          <p:nvPr/>
        </p:nvSpPr>
        <p:spPr>
          <a:xfrm>
            <a:off x="3146303" y="12065879"/>
            <a:ext cx="4214121" cy="1477328"/>
          </a:xfrm>
          <a:prstGeom prst="rect">
            <a:avLst/>
          </a:prstGeom>
          <a:noFill/>
        </p:spPr>
        <p:txBody>
          <a:bodyPr wrap="square" rtlCol="0">
            <a:spAutoFit/>
          </a:bodyPr>
          <a:lstStyle/>
          <a:p>
            <a:r>
              <a:rPr lang="en-GB" sz="1800" dirty="0">
                <a:solidFill>
                  <a:srgbClr val="F4C882"/>
                </a:solidFill>
                <a:latin typeface="Times New Roman" panose="02020603050405020304" pitchFamily="18" charset="0"/>
                <a:cs typeface="Times New Roman" panose="02020603050405020304" pitchFamily="18" charset="0"/>
              </a:rPr>
              <a:t>Storing the dataset as an excel file so it can be run in the python code. Cleaning the features of the dataset in the excel file. Using filters to look through the datasets formatting.  </a:t>
            </a:r>
            <a:endParaRPr lang="en-GB" sz="1800"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3F43458A-2D08-E6C0-C3F7-E34075987F45}"/>
              </a:ext>
            </a:extLst>
          </p:cNvPr>
          <p:cNvSpPr txBox="1"/>
          <p:nvPr/>
        </p:nvSpPr>
        <p:spPr>
          <a:xfrm>
            <a:off x="13962954" y="16422152"/>
            <a:ext cx="2349304" cy="646331"/>
          </a:xfrm>
          <a:prstGeom prst="rect">
            <a:avLst/>
          </a:prstGeom>
          <a:noFill/>
        </p:spPr>
        <p:txBody>
          <a:bodyPr wrap="square" rtlCol="0">
            <a:spAutoFit/>
          </a:bodyPr>
          <a:lstStyle/>
          <a:p>
            <a:r>
              <a:rPr lang="en-GB" sz="3600" dirty="0">
                <a:solidFill>
                  <a:schemeClr val="bg1"/>
                </a:solidFill>
                <a:latin typeface="Times New Roman" panose="02020603050405020304" pitchFamily="18" charset="0"/>
                <a:cs typeface="Times New Roman" panose="02020603050405020304" pitchFamily="18" charset="0"/>
              </a:rPr>
              <a:t>References</a:t>
            </a:r>
          </a:p>
        </p:txBody>
      </p:sp>
      <p:sp>
        <p:nvSpPr>
          <p:cNvPr id="64" name="TextBox 63">
            <a:extLst>
              <a:ext uri="{FF2B5EF4-FFF2-40B4-BE49-F238E27FC236}">
                <a16:creationId xmlns:a16="http://schemas.microsoft.com/office/drawing/2014/main" id="{D4AB1D97-770B-C8E2-9AF2-127C4A2BF6CD}"/>
              </a:ext>
            </a:extLst>
          </p:cNvPr>
          <p:cNvSpPr txBox="1"/>
          <p:nvPr/>
        </p:nvSpPr>
        <p:spPr>
          <a:xfrm>
            <a:off x="10498497" y="17688987"/>
            <a:ext cx="9278218" cy="3416320"/>
          </a:xfrm>
          <a:prstGeom prst="rect">
            <a:avLst/>
          </a:prstGeom>
          <a:noFill/>
        </p:spPr>
        <p:txBody>
          <a:bodyPr wrap="square" rtlCol="0">
            <a:spAutoFit/>
          </a:bodyPr>
          <a:lstStyle/>
          <a:p>
            <a:pPr algn="ctr"/>
            <a:r>
              <a:rPr lang="en-GB" sz="1800" dirty="0">
                <a:solidFill>
                  <a:srgbClr val="F4C882"/>
                </a:solidFill>
                <a:latin typeface="Times New Roman" panose="02020603050405020304" pitchFamily="18" charset="0"/>
                <a:cs typeface="Times New Roman" panose="02020603050405020304" pitchFamily="18" charset="0"/>
              </a:rPr>
              <a:t>1. Vitamin deficiency detection using neural networks (2024). </a:t>
            </a:r>
            <a:r>
              <a:rPr lang="en-GB" sz="1800" dirty="0">
                <a:solidFill>
                  <a:srgbClr val="F4C882"/>
                </a:solidFill>
                <a:latin typeface="Times New Roman" panose="02020603050405020304" pitchFamily="18" charset="0"/>
                <a:cs typeface="Times New Roman" panose="02020603050405020304" pitchFamily="18" charset="0"/>
                <a:hlinkClick r:id="rId13"/>
              </a:rPr>
              <a:t>https://ieeexplore.ieee.org/abstract/document/10533044?casa_token=oAfRxhAegNkAAAAA:ftI5pHn8j-Zi7Zu8rmoE-3PHugiddrFgXrddskxv9fwCaR-oi5bX9toFj_9BmpmYB65DTwhbnQ</a:t>
            </a:r>
            <a:r>
              <a:rPr lang="en-GB" sz="1800" dirty="0">
                <a:solidFill>
                  <a:srgbClr val="F4C882"/>
                </a:solidFill>
                <a:latin typeface="Times New Roman" panose="02020603050405020304" pitchFamily="18" charset="0"/>
                <a:cs typeface="Times New Roman" panose="02020603050405020304" pitchFamily="18" charset="0"/>
              </a:rPr>
              <a:t> </a:t>
            </a:r>
          </a:p>
          <a:p>
            <a:pPr algn="ctr"/>
            <a:r>
              <a:rPr lang="en-GB" sz="1800" dirty="0">
                <a:solidFill>
                  <a:srgbClr val="F4C882"/>
                </a:solidFill>
                <a:latin typeface="Times New Roman" panose="02020603050405020304" pitchFamily="18" charset="0"/>
                <a:cs typeface="Times New Roman" panose="02020603050405020304" pitchFamily="18" charset="0"/>
              </a:rPr>
              <a:t>2. Lakshmi, N.N. et al. (2022) 'Vitamin deficiency and food recommendation system using machine learning,' International Journal for Research in Applied Science and Engineering Technology, 10(5), pp. 3823–3830. </a:t>
            </a:r>
            <a:r>
              <a:rPr lang="en-GB" sz="1800" dirty="0">
                <a:solidFill>
                  <a:srgbClr val="F4C882"/>
                </a:solidFill>
                <a:latin typeface="Times New Roman" panose="02020603050405020304" pitchFamily="18" charset="0"/>
                <a:cs typeface="Times New Roman" panose="02020603050405020304" pitchFamily="18" charset="0"/>
                <a:hlinkClick r:id="rId14"/>
              </a:rPr>
              <a:t>https://doi.org/10.22214/ijraset.2022.43236</a:t>
            </a:r>
            <a:r>
              <a:rPr lang="en-GB" sz="1800" dirty="0">
                <a:solidFill>
                  <a:srgbClr val="F4C882"/>
                </a:solidFill>
                <a:latin typeface="Times New Roman" panose="02020603050405020304" pitchFamily="18" charset="0"/>
                <a:cs typeface="Times New Roman" panose="02020603050405020304" pitchFamily="18" charset="0"/>
              </a:rPr>
              <a:t>.</a:t>
            </a:r>
          </a:p>
          <a:p>
            <a:pPr algn="ctr"/>
            <a:r>
              <a:rPr lang="en-GB" sz="1800" dirty="0">
                <a:solidFill>
                  <a:srgbClr val="F4C882"/>
                </a:solidFill>
                <a:latin typeface="Times New Roman" panose="02020603050405020304" pitchFamily="18" charset="0"/>
                <a:cs typeface="Times New Roman" panose="02020603050405020304" pitchFamily="18" charset="0"/>
              </a:rPr>
              <a:t>3. Bleizgys, A. (2021) 'Vitamin D dosing: Basic principles and a Brief algorithm (2021 update),' Nutrients, 13(12), p. 4415. </a:t>
            </a:r>
            <a:r>
              <a:rPr lang="en-GB" sz="1800" dirty="0">
                <a:solidFill>
                  <a:srgbClr val="F4C882"/>
                </a:solidFill>
                <a:latin typeface="Times New Roman" panose="02020603050405020304" pitchFamily="18" charset="0"/>
                <a:cs typeface="Times New Roman" panose="02020603050405020304" pitchFamily="18" charset="0"/>
                <a:hlinkClick r:id="rId15"/>
              </a:rPr>
              <a:t>https://doi.org/10.3390/nu13124415</a:t>
            </a:r>
            <a:r>
              <a:rPr lang="en-GB" sz="1800" dirty="0">
                <a:solidFill>
                  <a:srgbClr val="F4C882"/>
                </a:solidFill>
                <a:latin typeface="Times New Roman" panose="02020603050405020304" pitchFamily="18" charset="0"/>
                <a:cs typeface="Times New Roman" panose="02020603050405020304" pitchFamily="18" charset="0"/>
              </a:rPr>
              <a:t>.</a:t>
            </a:r>
          </a:p>
          <a:p>
            <a:pPr algn="ctr"/>
            <a:r>
              <a:rPr lang="en-GB" sz="1800" dirty="0">
                <a:solidFill>
                  <a:srgbClr val="F4C882"/>
                </a:solidFill>
                <a:latin typeface="Times New Roman" panose="02020603050405020304" pitchFamily="18" charset="0"/>
                <a:cs typeface="Times New Roman" panose="02020603050405020304" pitchFamily="18" charset="0"/>
              </a:rPr>
              <a:t>4. </a:t>
            </a:r>
            <a:r>
              <a:rPr lang="en-GB" sz="1800" dirty="0" err="1">
                <a:solidFill>
                  <a:srgbClr val="F4C882"/>
                </a:solidFill>
                <a:latin typeface="Times New Roman" panose="02020603050405020304" pitchFamily="18" charset="0"/>
                <a:cs typeface="Times New Roman" panose="02020603050405020304" pitchFamily="18" charset="0"/>
              </a:rPr>
              <a:t>Mallesi</a:t>
            </a:r>
            <a:r>
              <a:rPr lang="en-GB" sz="1800" dirty="0">
                <a:solidFill>
                  <a:srgbClr val="F4C882"/>
                </a:solidFill>
                <a:latin typeface="Times New Roman" panose="02020603050405020304" pitchFamily="18" charset="0"/>
                <a:cs typeface="Times New Roman" panose="02020603050405020304" pitchFamily="18" charset="0"/>
              </a:rPr>
              <a:t>, V., Sreedevi, P., Babu, G.U.K. and Rani, K.U., 2020. Finding of vitamin deficiency and food recommendation system using multiple classifier algorithms. MATERIAL SCIENCE, 19(02). </a:t>
            </a:r>
            <a:r>
              <a:rPr lang="en-GB" sz="1800" dirty="0">
                <a:solidFill>
                  <a:srgbClr val="F4C882"/>
                </a:solidFill>
                <a:latin typeface="Times New Roman" panose="02020603050405020304" pitchFamily="18" charset="0"/>
                <a:cs typeface="Times New Roman" panose="02020603050405020304" pitchFamily="18" charset="0"/>
                <a:hlinkClick r:id="rId16"/>
              </a:rPr>
              <a:t>https://materialsciencetech.com/mst/uploads/2020-41862.pdf</a:t>
            </a:r>
            <a:r>
              <a:rPr lang="en-GB" sz="1800" dirty="0">
                <a:solidFill>
                  <a:srgbClr val="F4C882"/>
                </a:solidFill>
                <a:latin typeface="Times New Roman" panose="02020603050405020304" pitchFamily="18" charset="0"/>
                <a:cs typeface="Times New Roman" panose="02020603050405020304" pitchFamily="18" charset="0"/>
              </a:rPr>
              <a:t> </a:t>
            </a:r>
          </a:p>
          <a:p>
            <a:endParaRPr lang="en-GB" sz="1800" dirty="0">
              <a:solidFill>
                <a:srgbClr val="F4C8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2416868"/>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03EFC6982A3E49B93B844C7FCD583B" ma:contentTypeVersion="6" ma:contentTypeDescription="Create a new document." ma:contentTypeScope="" ma:versionID="4dac8f9dc0cdccc3a22e607e2e9ad6ce">
  <xsd:schema xmlns:xsd="http://www.w3.org/2001/XMLSchema" xmlns:xs="http://www.w3.org/2001/XMLSchema" xmlns:p="http://schemas.microsoft.com/office/2006/metadata/properties" xmlns:ns3="b7be8240-149b-427d-8eba-7bb1ff6225dd" targetNamespace="http://schemas.microsoft.com/office/2006/metadata/properties" ma:root="true" ma:fieldsID="b99279b348afa0a00901f8db09a86cd2" ns3:_="">
    <xsd:import namespace="b7be8240-149b-427d-8eba-7bb1ff6225d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be8240-149b-427d-8eba-7bb1ff6225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b7be8240-149b-427d-8eba-7bb1ff6225d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4CD648-C583-4713-9648-7C141D90FF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be8240-149b-427d-8eba-7bb1ff6225d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663CC45-6E2D-4F00-BD0A-506B1269009E}">
  <ds:schemaRefs>
    <ds:schemaRef ds:uri="http://schemas.openxmlformats.org/package/2006/metadata/core-properties"/>
    <ds:schemaRef ds:uri="http://schemas.microsoft.com/office/2006/documentManagement/types"/>
    <ds:schemaRef ds:uri="b7be8240-149b-427d-8eba-7bb1ff6225dd"/>
    <ds:schemaRef ds:uri="http://purl.org/dc/dcmitype/"/>
    <ds:schemaRef ds:uri="http://purl.org/dc/terms/"/>
    <ds:schemaRef ds:uri="http://purl.org/dc/elements/1.1/"/>
    <ds:schemaRef ds:uri="http://schemas.microsoft.com/office/infopath/2007/PartnerControl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0881226-DD37-4FBD-9083-534C004970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3686</TotalTime>
  <Words>1851</Words>
  <Application>Microsoft Office PowerPoint</Application>
  <PresentationFormat>Custom</PresentationFormat>
  <Paragraphs>132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Neue Haas Grotesk Text Pro</vt:lpstr>
      <vt:lpstr>Times New Roman</vt:lpstr>
      <vt:lpstr>VanillaVTI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Umme Aneesah</dc:creator>
  <cp:lastModifiedBy>Umme Aneesah</cp:lastModifiedBy>
  <cp:revision>4</cp:revision>
  <dcterms:created xsi:type="dcterms:W3CDTF">2025-11-07T16:46:50Z</dcterms:created>
  <dcterms:modified xsi:type="dcterms:W3CDTF">2026-01-28T14:26:14Z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0x010100B603EFC6982A3E49B93B844C7FCD583B</vt:lpwstr>
  </property>
</Properties>
</file>